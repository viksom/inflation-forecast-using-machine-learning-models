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5" r:id="rId19"/>
    <p:sldId id="283" r:id="rId20"/>
    <p:sldId id="276" r:id="rId21"/>
    <p:sldId id="284" r:id="rId22"/>
    <p:sldId id="279" r:id="rId23"/>
    <p:sldId id="278" r:id="rId24"/>
    <p:sldId id="281" r:id="rId25"/>
    <p:sldId id="282" r:id="rId26"/>
    <p:sldId id="280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7A7"/>
    <a:srgbClr val="0E2A47"/>
    <a:srgbClr val="E8F6F6"/>
    <a:srgbClr val="D1F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A1E997-1A47-46F5-9C68-557F45DD3AA6}" v="2105" dt="2026-06-13T12:24:16.3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73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57EB907F-78D9-0467-3B0E-CFF5FC4C11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pt-PT"/>
              <a:t>ISCTE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8E04E058-BD3A-E499-231D-05157A549C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663893-3AA3-4801-953A-B6A01C6312E4}" type="datetimeFigureOut">
              <a:rPr lang="pt-PT" smtClean="0"/>
              <a:t>13/06/2026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69245D81-6B02-251B-86D9-747A136565C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27558F64-B24A-A768-7A8D-1A48CEC1AE2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E3B3-C252-45B7-8BF1-D58D18F0C56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18739565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690986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en-US" sz="12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série</a:t>
            </a: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 </a:t>
            </a:r>
            <a:r>
              <a:rPr lang="en-US" sz="12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inflação</a:t>
            </a: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não</a:t>
            </a: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apresenta</a:t>
            </a: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tendência</a:t>
            </a: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determinística</a:t>
            </a: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nem</a:t>
            </a: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sazonalidade</a:t>
            </a: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identificável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—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confirmado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pelo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gráfico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inflação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mês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do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ano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A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diferenciação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sazonal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foi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considerada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descartada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A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inflação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é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governada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ciclos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macroeconómicos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amplos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associados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choques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externos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não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padrões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regulares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intra-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anuais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/>
            </a:b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teste ADF (p=0,09 &gt; 5%) </a:t>
            </a:r>
            <a:r>
              <a:rPr lang="en-US" sz="12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confirma</a:t>
            </a: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 </a:t>
            </a:r>
            <a:r>
              <a:rPr lang="en-US" sz="12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não</a:t>
            </a: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estacionaridade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série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justificando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aplicação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diferenciação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(d=1)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nos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modelos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econométricos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DDEE7-C0E3-5C76-2556-25331D577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0B7761-7FE9-D662-52A1-502E75808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en-US" sz="12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série</a:t>
            </a: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 </a:t>
            </a:r>
            <a:r>
              <a:rPr lang="en-US" sz="12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inflação</a:t>
            </a: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não</a:t>
            </a: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apresenta</a:t>
            </a: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tendência</a:t>
            </a: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determinística</a:t>
            </a: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nem</a:t>
            </a: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sazonalidade</a:t>
            </a: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identificável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—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confirmado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pelo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gráfico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inflação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mês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do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ano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A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diferenciação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sazonal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foi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considerada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descartada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A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inflação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é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governada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ciclos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macroeconómicos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amplos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associados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choques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externos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não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padrões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regulares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intra-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anuais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/>
            </a:b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teste ADF (p=0,09 &gt; 5%) </a:t>
            </a:r>
            <a:r>
              <a:rPr lang="en-US" sz="12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confirma</a:t>
            </a: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 </a:t>
            </a:r>
            <a:r>
              <a:rPr lang="en-US" sz="12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não</a:t>
            </a: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estacionaridade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série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justificando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aplicação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diferenciação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(d=1)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nos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modelos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econométricos</a:t>
            </a:r>
            <a:r>
              <a:rPr lang="en-US" sz="12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FB10A-9F73-2B74-DCFB-E12983BBDBD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520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0471D-901B-2C98-2EA0-609217847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BF9654-FD8D-7431-FBCA-17F7DC8C6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5FFB2-8DD4-0C57-366E-9C657CD997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2988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CA2D0-0099-9673-4B23-FC132D8B2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FA24F6-CAE9-780D-C638-4A2DCA61A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83F8B-BA81-52DA-40DD-98BEA62F61C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870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3FAFF-9A36-52C7-6BF4-D704EE0DA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6C46B9-C799-34F4-741E-B749D8C57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DF1BD-19A7-C722-5438-A306D22683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929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C30CE-8623-FD25-694D-EA57BAEB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8A39F9-682B-DF81-2026-F382DC0F1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6D883-8E5C-B803-9487-934738A0D5E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2974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16D8D-0193-8684-CE77-474454644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90A98-4924-8D9A-3F9F-8628C5AAC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5A795-0F80-C5FE-AD28-96BE83A69A5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375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8.png"/><Relationship Id="rId4" Type="http://schemas.openxmlformats.org/officeDocument/2006/relationships/hyperlink" Target="https://inflationforecast.netlify.app/dashboard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-explorer.oecd.org/vis?df%5bds%5d=dsDisseminateFinalDMZ&amp;df%5bid%5d=DSD_LFS%40DF_IALFS_UNE_M&amp;df%5bag%5d=OECD.SDD.TPS&amp;df%5bvs%5d=1.0&amp;pd=%2C&amp;dq=PRT..._Z.Y._T.Y_GE15..M&amp;ly%5bcl%5d=TIME_PERIOD&amp;to%5bTIME_PERIOD%5d=false&amp;vw=tb" TargetMode="External"/><Relationship Id="rId3" Type="http://schemas.openxmlformats.org/officeDocument/2006/relationships/hyperlink" Target="https://bpstat.bportugal.pt/serie/5721524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stlouisfed.org/research/economists/mccracken/fred-databases" TargetMode="External"/><Relationship Id="rId5" Type="http://schemas.openxmlformats.org/officeDocument/2006/relationships/hyperlink" Target="https://www.sciencedirect.com/science/article/pii/S2110701724000040" TargetMode="External"/><Relationship Id="rId4" Type="http://schemas.openxmlformats.org/officeDocument/2006/relationships/hyperlink" Target="https://zenodo.org/records/18804061" TargetMode="External"/><Relationship Id="rId9" Type="http://schemas.openxmlformats.org/officeDocument/2006/relationships/hyperlink" Target="https://www.econdb.com/series/PPIPT~TOYA/portugal-producer-price-index/?from=1999-10-11&amp;to=2026-04-20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1" y="77637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430000" y="0"/>
            <a:ext cx="761695" cy="6858000"/>
          </a:xfrm>
          <a:prstGeom prst="rect">
            <a:avLst/>
          </a:prstGeom>
          <a:solidFill>
            <a:srgbClr val="0E2A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Image 0" descr="gen-dedup-9749d35b89539fd8def785b146f04e16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761695" y="3666744"/>
            <a:ext cx="1143000" cy="38405"/>
          </a:xfrm>
          <a:prstGeom prst="rect">
            <a:avLst/>
          </a:prstGeom>
        </p:spPr>
      </p:pic>
      <p:pic>
        <p:nvPicPr>
          <p:cNvPr id="6" name="Image 1" descr="gen-dedup-44d113b94a040fa597d5956dbb209098.png"/>
          <p:cNvPicPr>
            <a:picLocks noChangeAspect="1"/>
          </p:cNvPicPr>
          <p:nvPr/>
        </p:nvPicPr>
        <p:blipFill>
          <a:blip r:embed="rId4"/>
          <a:srcRect l="1239" r="1239"/>
          <a:stretch/>
        </p:blipFill>
        <p:spPr>
          <a:xfrm>
            <a:off x="761695" y="437039"/>
            <a:ext cx="2033275" cy="610819"/>
          </a:xfrm>
          <a:prstGeom prst="rect">
            <a:avLst/>
          </a:prstGeom>
        </p:spPr>
      </p:pic>
      <p:pic>
        <p:nvPicPr>
          <p:cNvPr id="7" name="Image 2" descr="gen-dedup-c3ada0b76d6194cc3b710b5111fb3a36.png"/>
          <p:cNvPicPr>
            <a:picLocks noChangeAspect="1"/>
          </p:cNvPicPr>
          <p:nvPr/>
        </p:nvPicPr>
        <p:blipFill>
          <a:blip r:embed="rId5"/>
          <a:srcRect l="300" r="300"/>
          <a:stretch/>
        </p:blipFill>
        <p:spPr>
          <a:xfrm>
            <a:off x="8990014" y="272073"/>
            <a:ext cx="1524305" cy="1047902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761695" y="1638605"/>
            <a:ext cx="8572500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Previsão</a:t>
            </a:r>
            <a:r>
              <a:rPr lang="en-US" sz="4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 Inflação em Portugal</a:t>
            </a:r>
            <a:endParaRPr lang="en-US" sz="4200" b="1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 4"/>
          <p:cNvSpPr txBox="1"/>
          <p:nvPr/>
        </p:nvSpPr>
        <p:spPr>
          <a:xfrm>
            <a:off x="761695" y="3010205"/>
            <a:ext cx="85725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err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Modelos</a:t>
            </a:r>
            <a:r>
              <a:rPr lang="en-US" sz="28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Machine Learning</a:t>
            </a:r>
            <a:endParaRPr lang="en-US" sz="2800" b="1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 5"/>
          <p:cNvSpPr txBox="1"/>
          <p:nvPr/>
        </p:nvSpPr>
        <p:spPr>
          <a:xfrm>
            <a:off x="761695" y="4095598"/>
            <a:ext cx="101727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Autores</a:t>
            </a:r>
            <a:r>
              <a:rPr lang="en-US" sz="16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en-US" sz="16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António Duarte Santos · Gonçalo Henriques · José Alberto · Pedro Santos </a:t>
            </a:r>
            <a:endParaRPr lang="en-US" sz="16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Text 6"/>
          <p:cNvSpPr txBox="1"/>
          <p:nvPr/>
        </p:nvSpPr>
        <p:spPr>
          <a:xfrm>
            <a:off x="761695" y="4619548"/>
            <a:ext cx="7620610" cy="123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Orientadora</a:t>
            </a:r>
            <a:r>
              <a:rPr lang="en-US" sz="15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en-US" sz="1500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Prof.ª Diana Mendes</a:t>
            </a:r>
          </a:p>
          <a:p>
            <a:r>
              <a:rPr lang="en-US" sz="15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Cliente</a:t>
            </a:r>
            <a:r>
              <a:rPr lang="en-US" sz="15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en-US" sz="1500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Banco de Portugal</a:t>
            </a:r>
            <a:endParaRPr lang="en-US" sz="15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l">
              <a:buNone/>
            </a:pPr>
            <a:r>
              <a:rPr lang="en-US" sz="1500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Projeto Final Aplicado em Ciência de Dados 2025/2026</a:t>
            </a:r>
          </a:p>
          <a:p>
            <a:pPr marL="0" indent="0" algn="l">
              <a:buNone/>
            </a:pPr>
            <a:endParaRPr lang="en-US" sz="1500">
              <a:solidFill>
                <a:srgbClr val="55555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l">
              <a:buNone/>
            </a:pPr>
            <a:r>
              <a:rPr lang="en-US" sz="1500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Maio 2026 </a:t>
            </a:r>
            <a:endParaRPr lang="en-US" sz="15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 7"/>
          <p:cNvSpPr txBox="1"/>
          <p:nvPr/>
        </p:nvSpPr>
        <p:spPr>
          <a:xfrm>
            <a:off x="8696092" y="5859264"/>
            <a:ext cx="108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5">
                <a:solidFill>
                  <a:schemeClr val="accent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DEPLOYMENT</a:t>
            </a:r>
            <a:endParaRPr lang="en-US" sz="900" b="1">
              <a:solidFill>
                <a:schemeClr val="accent1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 8"/>
          <p:cNvSpPr txBox="1"/>
          <p:nvPr/>
        </p:nvSpPr>
        <p:spPr>
          <a:xfrm>
            <a:off x="9974319" y="5850906"/>
            <a:ext cx="108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5">
                <a:solidFill>
                  <a:schemeClr val="accent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GITHUB</a:t>
            </a:r>
            <a:endParaRPr lang="en-US" sz="900">
              <a:solidFill>
                <a:schemeClr val="accent1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6" name="Picture 23">
            <a:extLst>
              <a:ext uri="{FF2B5EF4-FFF2-40B4-BE49-F238E27FC236}">
                <a16:creationId xmlns:a16="http://schemas.microsoft.com/office/drawing/2014/main" id="{983030CC-E498-FF65-0C2E-837E18E854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2001036" y="6238996"/>
            <a:ext cx="1200472" cy="540000"/>
          </a:xfrm>
          <a:prstGeom prst="rect">
            <a:avLst/>
          </a:prstGeom>
        </p:spPr>
      </p:pic>
      <p:pic>
        <p:nvPicPr>
          <p:cNvPr id="17" name="Picture 25">
            <a:extLst>
              <a:ext uri="{FF2B5EF4-FFF2-40B4-BE49-F238E27FC236}">
                <a16:creationId xmlns:a16="http://schemas.microsoft.com/office/drawing/2014/main" id="{9B187380-132E-7311-0277-766B3E5975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61695" y="6238996"/>
            <a:ext cx="1204616" cy="54000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CF6A065C-2E90-9745-962F-262F4D6150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17684" y="4779264"/>
            <a:ext cx="1080000" cy="108000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EA5AE20-14EC-1DA8-E646-E53028F5DA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7919" y="4779264"/>
            <a:ext cx="10800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2001500" y="0"/>
            <a:ext cx="190195" cy="6858000"/>
          </a:xfrm>
          <a:prstGeom prst="rect">
            <a:avLst/>
          </a:prstGeom>
          <a:solidFill>
            <a:srgbClr val="0E2A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61695" y="1904695"/>
            <a:ext cx="5086807" cy="1257300"/>
          </a:xfrm>
          <a:prstGeom prst="roundRect">
            <a:avLst>
              <a:gd name="adj" fmla="val 881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61695" y="3381451"/>
            <a:ext cx="5086807" cy="1257300"/>
          </a:xfrm>
          <a:prstGeom prst="roundRect">
            <a:avLst>
              <a:gd name="adj" fmla="val 881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61695" y="4858207"/>
            <a:ext cx="5086807" cy="1257300"/>
          </a:xfrm>
          <a:prstGeom prst="roundRect">
            <a:avLst>
              <a:gd name="adj" fmla="val 881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191402" y="1904695"/>
            <a:ext cx="5086807" cy="1257300"/>
          </a:xfrm>
          <a:prstGeom prst="roundRect">
            <a:avLst>
              <a:gd name="adj" fmla="val 881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191402" y="3381451"/>
            <a:ext cx="5086807" cy="1257300"/>
          </a:xfrm>
          <a:prstGeom prst="roundRect">
            <a:avLst>
              <a:gd name="adj" fmla="val 881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1" name="Image 1" descr="gen-dedup-0b5539c69723788d92e50c7b176b3162.png"/>
          <p:cNvPicPr>
            <a:picLocks noChangeAspect="1"/>
          </p:cNvPicPr>
          <p:nvPr/>
        </p:nvPicPr>
        <p:blipFill>
          <a:blip r:embed="rId3"/>
          <a:srcRect t="-195" b="-195"/>
          <a:stretch/>
        </p:blipFill>
        <p:spPr>
          <a:xfrm>
            <a:off x="761695" y="1904695"/>
            <a:ext cx="75895" cy="1238098"/>
          </a:xfrm>
          <a:prstGeom prst="rect">
            <a:avLst/>
          </a:prstGeom>
        </p:spPr>
      </p:pic>
      <p:pic>
        <p:nvPicPr>
          <p:cNvPr id="12" name="Image 2" descr="gen-dedup-0b5539c69723788d92e50c7b176b3162.png"/>
          <p:cNvPicPr>
            <a:picLocks noChangeAspect="1"/>
          </p:cNvPicPr>
          <p:nvPr/>
        </p:nvPicPr>
        <p:blipFill>
          <a:blip r:embed="rId3"/>
          <a:srcRect t="-195" b="-195"/>
          <a:stretch/>
        </p:blipFill>
        <p:spPr>
          <a:xfrm>
            <a:off x="761695" y="3381451"/>
            <a:ext cx="75895" cy="1238098"/>
          </a:xfrm>
          <a:prstGeom prst="rect">
            <a:avLst/>
          </a:prstGeom>
        </p:spPr>
      </p:pic>
      <p:pic>
        <p:nvPicPr>
          <p:cNvPr id="13" name="Image 3" descr="gen-dedup-0b5539c69723788d92e50c7b176b3162.png"/>
          <p:cNvPicPr>
            <a:picLocks noChangeAspect="1"/>
          </p:cNvPicPr>
          <p:nvPr/>
        </p:nvPicPr>
        <p:blipFill>
          <a:blip r:embed="rId3"/>
          <a:srcRect t="-195" b="-195"/>
          <a:stretch/>
        </p:blipFill>
        <p:spPr>
          <a:xfrm>
            <a:off x="761695" y="4858207"/>
            <a:ext cx="75895" cy="1238098"/>
          </a:xfrm>
          <a:prstGeom prst="rect">
            <a:avLst/>
          </a:prstGeom>
        </p:spPr>
      </p:pic>
      <p:pic>
        <p:nvPicPr>
          <p:cNvPr id="14" name="Image 4" descr="gen-dedup-0b5539c69723788d92e50c7b176b3162.png"/>
          <p:cNvPicPr>
            <a:picLocks noChangeAspect="1"/>
          </p:cNvPicPr>
          <p:nvPr/>
        </p:nvPicPr>
        <p:blipFill>
          <a:blip r:embed="rId3"/>
          <a:srcRect t="-195" b="-195"/>
          <a:stretch/>
        </p:blipFill>
        <p:spPr>
          <a:xfrm>
            <a:off x="6191402" y="1904695"/>
            <a:ext cx="75895" cy="1238098"/>
          </a:xfrm>
          <a:prstGeom prst="rect">
            <a:avLst/>
          </a:prstGeom>
        </p:spPr>
      </p:pic>
      <p:pic>
        <p:nvPicPr>
          <p:cNvPr id="15" name="Image 5" descr="gen-dedup-0b5539c69723788d92e50c7b176b3162.png"/>
          <p:cNvPicPr>
            <a:picLocks noChangeAspect="1"/>
          </p:cNvPicPr>
          <p:nvPr/>
        </p:nvPicPr>
        <p:blipFill>
          <a:blip r:embed="rId3"/>
          <a:srcRect t="-195" b="-195"/>
          <a:stretch/>
        </p:blipFill>
        <p:spPr>
          <a:xfrm>
            <a:off x="6191402" y="3381451"/>
            <a:ext cx="75895" cy="1238098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761695" y="917964"/>
            <a:ext cx="3108402" cy="72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Índice</a:t>
            </a:r>
            <a:endParaRPr lang="en-US" sz="31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 9"/>
          <p:cNvSpPr txBox="1"/>
          <p:nvPr/>
        </p:nvSpPr>
        <p:spPr>
          <a:xfrm>
            <a:off x="1050646" y="2252167"/>
            <a:ext cx="66019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01</a:t>
            </a:r>
            <a:endParaRPr lang="en-US" sz="39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 10"/>
          <p:cNvSpPr txBox="1"/>
          <p:nvPr/>
        </p:nvSpPr>
        <p:spPr>
          <a:xfrm>
            <a:off x="1904695" y="2171700"/>
            <a:ext cx="3715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Contextualização</a:t>
            </a:r>
            <a:endParaRPr lang="en-US" sz="2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 11"/>
          <p:cNvSpPr txBox="1"/>
          <p:nvPr/>
        </p:nvSpPr>
        <p:spPr>
          <a:xfrm>
            <a:off x="1904695" y="2523744"/>
            <a:ext cx="39438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66666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Inflação, </a:t>
            </a:r>
            <a:r>
              <a:rPr lang="en-US" sz="1400" err="1">
                <a:solidFill>
                  <a:srgbClr val="66666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Motivação</a:t>
            </a:r>
            <a:r>
              <a:rPr lang="en-US" sz="1400">
                <a:solidFill>
                  <a:srgbClr val="66666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400" err="1">
                <a:solidFill>
                  <a:srgbClr val="66666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Questões</a:t>
            </a:r>
            <a:endParaRPr lang="en-US" sz="1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Text 12"/>
          <p:cNvSpPr txBox="1"/>
          <p:nvPr/>
        </p:nvSpPr>
        <p:spPr>
          <a:xfrm>
            <a:off x="1050646" y="3728009"/>
            <a:ext cx="66019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02</a:t>
            </a:r>
            <a:endParaRPr lang="en-US" sz="39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" name="Text 13"/>
          <p:cNvSpPr txBox="1"/>
          <p:nvPr/>
        </p:nvSpPr>
        <p:spPr>
          <a:xfrm>
            <a:off x="1904695" y="3648456"/>
            <a:ext cx="3715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Dados &amp; </a:t>
            </a:r>
            <a:r>
              <a:rPr lang="en-US" sz="20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Metodologia</a:t>
            </a:r>
            <a:endParaRPr lang="en-US" sz="2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 14"/>
          <p:cNvSpPr txBox="1"/>
          <p:nvPr/>
        </p:nvSpPr>
        <p:spPr>
          <a:xfrm>
            <a:off x="1904695" y="4000500"/>
            <a:ext cx="39438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>
                <a:solidFill>
                  <a:srgbClr val="66666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</a:t>
            </a:r>
            <a:r>
              <a:rPr lang="en-US" sz="1400">
                <a:solidFill>
                  <a:srgbClr val="66666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Fontes, EDA, </a:t>
            </a:r>
            <a:r>
              <a:rPr lang="en-US" sz="1400" i="1">
                <a:solidFill>
                  <a:srgbClr val="66666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Pipeline</a:t>
            </a:r>
            <a:r>
              <a:rPr lang="en-US" sz="1400">
                <a:solidFill>
                  <a:srgbClr val="66666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400" err="1">
                <a:solidFill>
                  <a:srgbClr val="66666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Variáveis</a:t>
            </a:r>
            <a:r>
              <a:rPr lang="en-US" sz="1400">
                <a:solidFill>
                  <a:srgbClr val="66666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err="1">
                <a:solidFill>
                  <a:srgbClr val="66666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Finais</a:t>
            </a:r>
            <a:endParaRPr lang="en-US" sz="1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" name="Text 15"/>
          <p:cNvSpPr txBox="1"/>
          <p:nvPr/>
        </p:nvSpPr>
        <p:spPr>
          <a:xfrm>
            <a:off x="1050646" y="5204765"/>
            <a:ext cx="66019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03</a:t>
            </a:r>
            <a:endParaRPr lang="en-US" sz="39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Text 16"/>
          <p:cNvSpPr txBox="1"/>
          <p:nvPr/>
        </p:nvSpPr>
        <p:spPr>
          <a:xfrm>
            <a:off x="1904695" y="5124298"/>
            <a:ext cx="3715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Modelação</a:t>
            </a:r>
            <a:endParaRPr lang="en-US" sz="16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Text 17"/>
          <p:cNvSpPr txBox="1"/>
          <p:nvPr/>
        </p:nvSpPr>
        <p:spPr>
          <a:xfrm>
            <a:off x="1901038" y="5426679"/>
            <a:ext cx="3943807" cy="406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66666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Modelos </a:t>
            </a:r>
            <a:r>
              <a:rPr lang="en-US" sz="1400" err="1">
                <a:solidFill>
                  <a:srgbClr val="66666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Econométricos</a:t>
            </a:r>
            <a:r>
              <a:rPr lang="en-US" sz="1400">
                <a:solidFill>
                  <a:srgbClr val="66666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 </a:t>
            </a:r>
            <a:r>
              <a:rPr lang="en-US" sz="1400" i="1">
                <a:solidFill>
                  <a:srgbClr val="66666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Machine Learning</a:t>
            </a:r>
            <a:endParaRPr lang="en-US" sz="1400" i="1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Text 18"/>
          <p:cNvSpPr txBox="1"/>
          <p:nvPr/>
        </p:nvSpPr>
        <p:spPr>
          <a:xfrm>
            <a:off x="6479438" y="2252167"/>
            <a:ext cx="66019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04</a:t>
            </a:r>
            <a:endParaRPr lang="en-US" sz="39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Text 19"/>
          <p:cNvSpPr txBox="1"/>
          <p:nvPr/>
        </p:nvSpPr>
        <p:spPr>
          <a:xfrm>
            <a:off x="7334402" y="2171700"/>
            <a:ext cx="3715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Resultados</a:t>
            </a:r>
            <a:endParaRPr lang="en-US" sz="16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" name="Text 20"/>
          <p:cNvSpPr txBox="1"/>
          <p:nvPr/>
        </p:nvSpPr>
        <p:spPr>
          <a:xfrm>
            <a:off x="7334402" y="2523744"/>
            <a:ext cx="3715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66666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Comparação dos Modelos, </a:t>
            </a:r>
            <a:r>
              <a:rPr lang="en-US" sz="1400" err="1">
                <a:solidFill>
                  <a:srgbClr val="66666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Explicabilidade</a:t>
            </a:r>
            <a:endParaRPr lang="en-US" sz="1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0" name="Text 21"/>
          <p:cNvSpPr txBox="1"/>
          <p:nvPr/>
        </p:nvSpPr>
        <p:spPr>
          <a:xfrm>
            <a:off x="6479438" y="3728009"/>
            <a:ext cx="66019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05</a:t>
            </a:r>
            <a:endParaRPr lang="en-US" sz="39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1" name="Text 22"/>
          <p:cNvSpPr txBox="1"/>
          <p:nvPr/>
        </p:nvSpPr>
        <p:spPr>
          <a:xfrm>
            <a:off x="7334402" y="3648456"/>
            <a:ext cx="3715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Conclusões</a:t>
            </a:r>
            <a:endParaRPr lang="en-US" sz="2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" name="Text 23"/>
          <p:cNvSpPr txBox="1"/>
          <p:nvPr/>
        </p:nvSpPr>
        <p:spPr>
          <a:xfrm>
            <a:off x="7334402" y="4000500"/>
            <a:ext cx="3715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err="1">
                <a:solidFill>
                  <a:srgbClr val="66666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Conclusões</a:t>
            </a:r>
            <a:r>
              <a:rPr lang="en-US" sz="1400">
                <a:solidFill>
                  <a:srgbClr val="66666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400" err="1">
                <a:solidFill>
                  <a:srgbClr val="66666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Trabalho</a:t>
            </a:r>
            <a:r>
              <a:rPr lang="en-US" sz="1400">
                <a:solidFill>
                  <a:srgbClr val="66666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Futuro e </a:t>
            </a:r>
            <a:r>
              <a:rPr lang="en-US" sz="1400" i="1">
                <a:solidFill>
                  <a:srgbClr val="66666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Deployment</a:t>
            </a:r>
            <a:endParaRPr lang="en-US" sz="1400" i="1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" name="Text 24"/>
          <p:cNvSpPr txBox="1"/>
          <p:nvPr/>
        </p:nvSpPr>
        <p:spPr>
          <a:xfrm>
            <a:off x="11525098" y="6381598"/>
            <a:ext cx="286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02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5" name="Image 1" descr="gen-dedup-44d113b94a040fa597d5956dbb209098.png">
            <a:extLst>
              <a:ext uri="{FF2B5EF4-FFF2-40B4-BE49-F238E27FC236}">
                <a16:creationId xmlns:a16="http://schemas.microsoft.com/office/drawing/2014/main" id="{B2CAE8A6-FBDF-7E41-29B7-13FEFBF909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39" r="1239"/>
          <a:stretch/>
        </p:blipFill>
        <p:spPr>
          <a:xfrm>
            <a:off x="-2287" y="-10758"/>
            <a:ext cx="1478585" cy="4441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2001500" y="0"/>
            <a:ext cx="190195" cy="6858000"/>
          </a:xfrm>
          <a:prstGeom prst="rect">
            <a:avLst/>
          </a:prstGeom>
          <a:solidFill>
            <a:srgbClr val="0E2A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771693" y="1819176"/>
            <a:ext cx="6073155" cy="2851693"/>
          </a:xfrm>
          <a:prstGeom prst="roundRect">
            <a:avLst>
              <a:gd name="adj" fmla="val 2580"/>
            </a:avLst>
          </a:prstGeom>
          <a:solidFill>
            <a:srgbClr val="FFFFFF"/>
          </a:solidFill>
          <a:ln w="25400">
            <a:solidFill>
              <a:srgbClr val="E0E0E0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Image 1" descr="gen-dedup-83fbd49e158c8174a358d9713ecb9497.png"/>
          <p:cNvPicPr>
            <a:picLocks noChangeAspect="1"/>
          </p:cNvPicPr>
          <p:nvPr/>
        </p:nvPicPr>
        <p:blipFill>
          <a:blip r:embed="rId3"/>
          <a:srcRect l="-35" r="-35"/>
          <a:stretch/>
        </p:blipFill>
        <p:spPr>
          <a:xfrm>
            <a:off x="741643" y="5005410"/>
            <a:ext cx="5030050" cy="1020373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731617" y="453460"/>
            <a:ext cx="4875401" cy="99071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Inflação</a:t>
            </a:r>
            <a:r>
              <a:rPr lang="en-US" sz="30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30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em</a:t>
            </a:r>
            <a:r>
              <a:rPr lang="en-US" sz="30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Portugal </a:t>
            </a:r>
          </a:p>
          <a:p>
            <a:pPr algn="ctr"/>
            <a:r>
              <a:rPr lang="en-US" sz="2000" b="1">
                <a:solidFill>
                  <a:schemeClr val="accent1">
                    <a:lumMod val="49000"/>
                  </a:schemeClr>
                </a:solidFill>
                <a:latin typeface="Open Sans"/>
                <a:ea typeface="Open Sans"/>
                <a:cs typeface="Open Sans"/>
              </a:rPr>
              <a:t> 25 Anos de </a:t>
            </a:r>
            <a:r>
              <a:rPr lang="en-US" sz="2000" b="1" err="1">
                <a:solidFill>
                  <a:schemeClr val="accent1">
                    <a:lumMod val="49000"/>
                  </a:schemeClr>
                </a:solidFill>
                <a:latin typeface="Open Sans"/>
                <a:ea typeface="Open Sans"/>
                <a:cs typeface="Open Sans"/>
              </a:rPr>
              <a:t>Volatilidade</a:t>
            </a:r>
            <a:endParaRPr lang="en-US" sz="2000" b="1">
              <a:solidFill>
                <a:schemeClr val="accent1">
                  <a:lumMod val="49000"/>
                </a:schemeClr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2" name="Text 5"/>
          <p:cNvSpPr txBox="1"/>
          <p:nvPr/>
        </p:nvSpPr>
        <p:spPr>
          <a:xfrm>
            <a:off x="825500" y="1714500"/>
            <a:ext cx="46863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Inflação</a:t>
            </a:r>
            <a:r>
              <a:rPr lang="en-US" sz="16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en-US" sz="16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subida</a:t>
            </a:r>
            <a:r>
              <a:rPr lang="en-US" sz="16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generalizada</a:t>
            </a:r>
            <a:r>
              <a:rPr lang="en-US" sz="16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 </a:t>
            </a:r>
            <a:r>
              <a:rPr lang="en-US" sz="16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contínua</a:t>
            </a:r>
            <a:r>
              <a:rPr lang="en-US" sz="16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do </a:t>
            </a:r>
            <a:r>
              <a:rPr lang="en-US" sz="16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nível</a:t>
            </a:r>
            <a:r>
              <a:rPr lang="en-US" sz="16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sz="16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preços</a:t>
            </a:r>
            <a:r>
              <a:rPr lang="en-US" sz="16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16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Text 6"/>
          <p:cNvSpPr txBox="1"/>
          <p:nvPr/>
        </p:nvSpPr>
        <p:spPr>
          <a:xfrm>
            <a:off x="765343" y="2497162"/>
            <a:ext cx="4806614" cy="75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Indíce</a:t>
            </a:r>
            <a:r>
              <a:rPr lang="en-US" sz="16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de </a:t>
            </a:r>
            <a:r>
              <a:rPr lang="en-US" sz="16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Preços</a:t>
            </a:r>
            <a:r>
              <a:rPr lang="en-US" sz="16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 no </a:t>
            </a:r>
            <a:r>
              <a:rPr lang="en-US" sz="16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Consumidor</a:t>
            </a:r>
            <a:r>
              <a:rPr lang="en-US" sz="16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(IPC): 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calculado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pelo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Instituto Nacional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Estatística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.</a:t>
            </a:r>
          </a:p>
        </p:txBody>
      </p:sp>
      <p:sp>
        <p:nvSpPr>
          <p:cNvPr id="14" name="Text 7"/>
          <p:cNvSpPr txBox="1"/>
          <p:nvPr/>
        </p:nvSpPr>
        <p:spPr>
          <a:xfrm>
            <a:off x="825500" y="3401055"/>
            <a:ext cx="46863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Variável</a:t>
            </a:r>
            <a:r>
              <a:rPr lang="en-US" sz="16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alvo</a:t>
            </a:r>
            <a:r>
              <a:rPr lang="en-US" sz="16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en-US" sz="16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taxa de </a:t>
            </a:r>
            <a:r>
              <a:rPr lang="en-US" sz="16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variação</a:t>
            </a:r>
            <a:r>
              <a:rPr lang="en-US" sz="16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homóloga</a:t>
            </a:r>
            <a:r>
              <a:rPr lang="en-US" sz="16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do IPC </a:t>
            </a:r>
            <a:r>
              <a:rPr lang="en-US" sz="16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português</a:t>
            </a:r>
            <a:r>
              <a:rPr lang="en-US" sz="16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16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 8"/>
          <p:cNvSpPr txBox="1"/>
          <p:nvPr/>
        </p:nvSpPr>
        <p:spPr>
          <a:xfrm>
            <a:off x="825500" y="3933059"/>
            <a:ext cx="46863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Objetivo</a:t>
            </a:r>
            <a:r>
              <a:rPr lang="en-US" sz="16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BCE: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2% a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médio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prazo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. </a:t>
            </a:r>
            <a:endParaRPr lang="en-US" sz="1600">
              <a:latin typeface="Open Sans"/>
              <a:ea typeface="Open Sans"/>
              <a:cs typeface="Open Sans"/>
            </a:endParaRPr>
          </a:p>
        </p:txBody>
      </p:sp>
      <p:sp>
        <p:nvSpPr>
          <p:cNvPr id="21" name="Text 14"/>
          <p:cNvSpPr txBox="1"/>
          <p:nvPr/>
        </p:nvSpPr>
        <p:spPr>
          <a:xfrm>
            <a:off x="912092" y="5005411"/>
            <a:ext cx="4690068" cy="1031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ea typeface="Open Sans"/>
                <a:cs typeface="Open Sans"/>
              </a:rPr>
              <a:t>A </a:t>
            </a:r>
            <a:r>
              <a:rPr lang="en-US" sz="1400" b="1" err="1">
                <a:solidFill>
                  <a:srgbClr val="FFFFFF"/>
                </a:solidFill>
                <a:ea typeface="Open Sans"/>
                <a:cs typeface="Open Sans"/>
              </a:rPr>
              <a:t>Inflação</a:t>
            </a:r>
            <a:r>
              <a:rPr lang="en-US" sz="1400" b="1">
                <a:solidFill>
                  <a:srgbClr val="FFFFFF"/>
                </a:solidFill>
                <a:ea typeface="Open Sans"/>
                <a:cs typeface="Open Sans"/>
              </a:rPr>
              <a:t> Portuguesa </a:t>
            </a:r>
            <a:r>
              <a:rPr lang="en-US" sz="1400" b="1" err="1">
                <a:solidFill>
                  <a:srgbClr val="FFFFFF"/>
                </a:solidFill>
                <a:ea typeface="Open Sans"/>
                <a:cs typeface="Open Sans"/>
              </a:rPr>
              <a:t>resulta</a:t>
            </a:r>
            <a:r>
              <a:rPr lang="en-US" sz="1400" b="1">
                <a:solidFill>
                  <a:srgbClr val="FFFFFF"/>
                </a:solidFill>
                <a:ea typeface="Open Sans"/>
                <a:cs typeface="Open Sans"/>
              </a:rPr>
              <a:t> </a:t>
            </a:r>
            <a:r>
              <a:rPr lang="en-US" sz="1400" b="1" err="1">
                <a:solidFill>
                  <a:srgbClr val="FFFFFF"/>
                </a:solidFill>
                <a:ea typeface="Open Sans"/>
                <a:cs typeface="Open Sans"/>
              </a:rPr>
              <a:t>simultanemanente</a:t>
            </a:r>
            <a:r>
              <a:rPr lang="en-US" sz="1400" b="1">
                <a:solidFill>
                  <a:srgbClr val="FFFFFF"/>
                </a:solidFill>
                <a:ea typeface="Open Sans"/>
                <a:cs typeface="Open Sans"/>
              </a:rPr>
              <a:t> de </a:t>
            </a:r>
            <a:r>
              <a:rPr lang="en-US" sz="1400" b="1" err="1">
                <a:solidFill>
                  <a:srgbClr val="FFFFFF"/>
                </a:solidFill>
                <a:ea typeface="Open Sans"/>
                <a:cs typeface="Open Sans"/>
              </a:rPr>
              <a:t>fatores</a:t>
            </a:r>
            <a:r>
              <a:rPr lang="en-US" sz="1400" b="1">
                <a:solidFill>
                  <a:srgbClr val="FFFFFF"/>
                </a:solidFill>
                <a:ea typeface="Open Sans"/>
                <a:cs typeface="Open Sans"/>
              </a:rPr>
              <a:t>  </a:t>
            </a:r>
            <a:r>
              <a:rPr lang="en-US" sz="1400" b="1" err="1">
                <a:solidFill>
                  <a:srgbClr val="FFFFFF"/>
                </a:solidFill>
                <a:ea typeface="Open Sans"/>
                <a:cs typeface="Open Sans"/>
              </a:rPr>
              <a:t>europeus</a:t>
            </a:r>
            <a:r>
              <a:rPr lang="en-US" sz="1400" b="1">
                <a:solidFill>
                  <a:srgbClr val="FFFFFF"/>
                </a:solidFill>
                <a:ea typeface="Open Sans"/>
                <a:cs typeface="Open Sans"/>
              </a:rPr>
              <a:t>/</a:t>
            </a:r>
            <a:r>
              <a:rPr lang="en-US" sz="1400" b="1" err="1">
                <a:solidFill>
                  <a:srgbClr val="FFFFFF"/>
                </a:solidFill>
                <a:ea typeface="Open Sans"/>
                <a:cs typeface="Open Sans"/>
              </a:rPr>
              <a:t>globais</a:t>
            </a:r>
            <a:r>
              <a:rPr lang="en-US" sz="1400" b="1">
                <a:solidFill>
                  <a:srgbClr val="FFFFFF"/>
                </a:solidFill>
                <a:ea typeface="Open Sans"/>
                <a:cs typeface="Open Sans"/>
              </a:rPr>
              <a:t> e de </a:t>
            </a:r>
            <a:r>
              <a:rPr lang="en-US" sz="1400" b="1" err="1">
                <a:solidFill>
                  <a:srgbClr val="FFFFFF"/>
                </a:solidFill>
                <a:ea typeface="Open Sans"/>
                <a:cs typeface="Open Sans"/>
              </a:rPr>
              <a:t>dinâmicas</a:t>
            </a:r>
            <a:r>
              <a:rPr lang="en-US" sz="1400" b="1">
                <a:solidFill>
                  <a:srgbClr val="FFFFFF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FFFFFF"/>
                </a:solidFill>
                <a:ea typeface="Open Sans"/>
                <a:cs typeface="Open Sans"/>
              </a:rPr>
              <a:t>internas</a:t>
            </a:r>
            <a:r>
              <a:rPr lang="en-US" sz="1400" b="1">
                <a:solidFill>
                  <a:srgbClr val="FFFFFF"/>
                </a:solidFill>
                <a:ea typeface="Open Sans"/>
                <a:cs typeface="Open Sans"/>
              </a:rPr>
              <a:t>.</a:t>
            </a:r>
            <a:endParaRPr lang="pt-PT"/>
          </a:p>
          <a:p>
            <a:pPr algn="ctr"/>
            <a:r>
              <a:rPr lang="en-US" sz="1400" b="1">
                <a:solidFill>
                  <a:srgbClr val="FFFFFF"/>
                </a:solidFill>
                <a:ea typeface="Open Sans"/>
                <a:cs typeface="Open Sans"/>
              </a:rPr>
              <a:t>47% </a:t>
            </a:r>
            <a:r>
              <a:rPr lang="en-US" sz="1400" b="1">
                <a:solidFill>
                  <a:schemeClr val="accent2">
                    <a:lumMod val="60000"/>
                    <a:lumOff val="40000"/>
                  </a:schemeClr>
                </a:solidFill>
                <a:ea typeface="Open Sans"/>
                <a:cs typeface="Open Sans"/>
              </a:rPr>
              <a:t>vs </a:t>
            </a:r>
            <a:r>
              <a:rPr lang="en-US" sz="1400" b="1">
                <a:solidFill>
                  <a:srgbClr val="FFFFFF"/>
                </a:solidFill>
                <a:ea typeface="Open Sans"/>
                <a:cs typeface="Open Sans"/>
              </a:rPr>
              <a:t>53%</a:t>
            </a:r>
          </a:p>
        </p:txBody>
      </p:sp>
      <p:pic>
        <p:nvPicPr>
          <p:cNvPr id="25" name="Image 1" descr="gen-dedup-44d113b94a040fa597d5956dbb209098.png">
            <a:extLst>
              <a:ext uri="{FF2B5EF4-FFF2-40B4-BE49-F238E27FC236}">
                <a16:creationId xmlns:a16="http://schemas.microsoft.com/office/drawing/2014/main" id="{3646406F-11DF-85F9-7847-C918030A5D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39" r="1239"/>
          <a:stretch/>
        </p:blipFill>
        <p:spPr>
          <a:xfrm>
            <a:off x="-2287" y="-10758"/>
            <a:ext cx="1478585" cy="444184"/>
          </a:xfrm>
          <a:prstGeom prst="rect">
            <a:avLst/>
          </a:prstGeom>
        </p:spPr>
      </p:pic>
      <p:sp>
        <p:nvSpPr>
          <p:cNvPr id="27" name="Text 24">
            <a:extLst>
              <a:ext uri="{FF2B5EF4-FFF2-40B4-BE49-F238E27FC236}">
                <a16:creationId xmlns:a16="http://schemas.microsoft.com/office/drawing/2014/main" id="{C37E5FBC-D1BC-B06B-2AE8-DF9CAB007A94}"/>
              </a:ext>
            </a:extLst>
          </p:cNvPr>
          <p:cNvSpPr txBox="1"/>
          <p:nvPr/>
        </p:nvSpPr>
        <p:spPr>
          <a:xfrm>
            <a:off x="11525098" y="6381598"/>
            <a:ext cx="286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03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1CFC4863-D62D-B3BB-1CE9-2C5A5108A9F6}"/>
              </a:ext>
            </a:extLst>
          </p:cNvPr>
          <p:cNvSpPr txBox="1"/>
          <p:nvPr/>
        </p:nvSpPr>
        <p:spPr>
          <a:xfrm>
            <a:off x="11157172" y="156667"/>
            <a:ext cx="660197" cy="55321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01</a:t>
            </a:r>
            <a:endParaRPr lang="en-US" sz="3900">
              <a:solidFill>
                <a:srgbClr val="0E2A47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3" name="Imagem 2" descr="Uma imagem com texto, file, Gráfico, diagrama&#10;&#10;Os conteúdos gerados por IA poderão estar incorretos.">
            <a:extLst>
              <a:ext uri="{FF2B5EF4-FFF2-40B4-BE49-F238E27FC236}">
                <a16:creationId xmlns:a16="http://schemas.microsoft.com/office/drawing/2014/main" id="{DBE80B94-710D-C3D0-3225-77C02BDCC4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5341" y="1982584"/>
            <a:ext cx="5915528" cy="24917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43" y="1042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2001500" y="0"/>
            <a:ext cx="190195" cy="6858000"/>
          </a:xfrm>
          <a:prstGeom prst="rect">
            <a:avLst/>
          </a:prstGeom>
          <a:solidFill>
            <a:srgbClr val="0E2A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0072645" y="1988198"/>
            <a:ext cx="1681815" cy="1811773"/>
          </a:xfrm>
          <a:prstGeom prst="roundRect">
            <a:avLst>
              <a:gd name="adj" fmla="val 22848"/>
            </a:avLst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t"/>
          <a:lstStyle/>
          <a:p>
            <a:endParaRPr lang="pt-PT">
              <a:ea typeface="Open Sans"/>
              <a:cs typeface="Open San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817177" y="1336433"/>
            <a:ext cx="7870043" cy="3216624"/>
          </a:xfrm>
          <a:prstGeom prst="roundRect">
            <a:avLst>
              <a:gd name="adj" fmla="val 72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739283" y="498510"/>
            <a:ext cx="5400000" cy="72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Inflação Portuguesa</a:t>
            </a:r>
          </a:p>
          <a:p>
            <a:pPr algn="ctr"/>
            <a:r>
              <a:rPr lang="en-US" sz="2000" b="1" err="1">
                <a:solidFill>
                  <a:schemeClr val="accent1">
                    <a:lumMod val="49000"/>
                  </a:schemeClr>
                </a:solidFill>
                <a:latin typeface="Open Sans"/>
                <a:ea typeface="Open Sans"/>
                <a:cs typeface="Open Sans"/>
              </a:rPr>
              <a:t>Comportamento</a:t>
            </a:r>
            <a:r>
              <a:rPr lang="en-US" sz="2000" b="1">
                <a:solidFill>
                  <a:schemeClr val="accent1">
                    <a:lumMod val="49000"/>
                  </a:schemeClr>
                </a:solidFill>
                <a:latin typeface="Open Sans"/>
                <a:ea typeface="Open Sans"/>
                <a:cs typeface="Open Sans"/>
              </a:rPr>
              <a:t> Histórico</a:t>
            </a:r>
          </a:p>
        </p:txBody>
      </p:sp>
      <p:sp>
        <p:nvSpPr>
          <p:cNvPr id="11" name="Text 6"/>
          <p:cNvSpPr txBox="1"/>
          <p:nvPr/>
        </p:nvSpPr>
        <p:spPr>
          <a:xfrm>
            <a:off x="10102474" y="2335213"/>
            <a:ext cx="8385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2,2%</a:t>
            </a:r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 7"/>
          <p:cNvSpPr txBox="1"/>
          <p:nvPr/>
        </p:nvSpPr>
        <p:spPr>
          <a:xfrm>
            <a:off x="10880798" y="2335411"/>
            <a:ext cx="8385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1,97%</a:t>
            </a:r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Text 8"/>
          <p:cNvSpPr txBox="1"/>
          <p:nvPr/>
        </p:nvSpPr>
        <p:spPr>
          <a:xfrm>
            <a:off x="10075281" y="3007003"/>
            <a:ext cx="8385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-1,7%</a:t>
            </a:r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10912003" y="3004455"/>
            <a:ext cx="8385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10,1%</a:t>
            </a:r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9817216" y="2619627"/>
            <a:ext cx="131588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Média</a:t>
            </a:r>
            <a:endParaRPr lang="en-US" sz="1200">
              <a:latin typeface="Open Sans"/>
              <a:ea typeface="Open Sans"/>
              <a:cs typeface="Open Sans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10912003" y="2619868"/>
            <a:ext cx="807300" cy="9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Desvio</a:t>
            </a:r>
            <a:r>
              <a:rPr lang="en-US" sz="1200" b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(σ)</a:t>
            </a:r>
            <a:endParaRPr lang="en-US" sz="1200">
              <a:latin typeface="Open Sans"/>
              <a:ea typeface="Open Sans"/>
              <a:cs typeface="Open Sans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10119463" y="3293089"/>
            <a:ext cx="79292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Mínimo</a:t>
            </a:r>
            <a:endParaRPr lang="en-US" sz="1200">
              <a:latin typeface="Open Sans"/>
              <a:ea typeface="Open Sans"/>
              <a:cs typeface="Open Sans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10899765" y="3281557"/>
            <a:ext cx="829056" cy="16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Máximo</a:t>
            </a:r>
            <a:endParaRPr lang="en-US" sz="1200">
              <a:latin typeface="Open Sans"/>
              <a:ea typeface="Open Sans"/>
              <a:cs typeface="Open Sans"/>
            </a:endParaRPr>
          </a:p>
        </p:txBody>
      </p:sp>
      <p:pic>
        <p:nvPicPr>
          <p:cNvPr id="25" name="Image 1" descr="gen-dedup-44d113b94a040fa597d5956dbb209098.png">
            <a:extLst>
              <a:ext uri="{FF2B5EF4-FFF2-40B4-BE49-F238E27FC236}">
                <a16:creationId xmlns:a16="http://schemas.microsoft.com/office/drawing/2014/main" id="{50F3C0BE-8BF9-06ED-E0C8-C563AE4F8A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9" r="1239"/>
          <a:stretch/>
        </p:blipFill>
        <p:spPr>
          <a:xfrm>
            <a:off x="-2287" y="-10758"/>
            <a:ext cx="1478585" cy="444184"/>
          </a:xfrm>
          <a:prstGeom prst="rect">
            <a:avLst/>
          </a:prstGeom>
        </p:spPr>
      </p:pic>
      <p:sp>
        <p:nvSpPr>
          <p:cNvPr id="26" name="Text 24">
            <a:extLst>
              <a:ext uri="{FF2B5EF4-FFF2-40B4-BE49-F238E27FC236}">
                <a16:creationId xmlns:a16="http://schemas.microsoft.com/office/drawing/2014/main" id="{166C9F45-F994-6770-090C-74E87FCC59E5}"/>
              </a:ext>
            </a:extLst>
          </p:cNvPr>
          <p:cNvSpPr txBox="1"/>
          <p:nvPr/>
        </p:nvSpPr>
        <p:spPr>
          <a:xfrm>
            <a:off x="11525098" y="6381598"/>
            <a:ext cx="286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04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Gráfico 27">
            <a:extLst>
              <a:ext uri="{FF2B5EF4-FFF2-40B4-BE49-F238E27FC236}">
                <a16:creationId xmlns:a16="http://schemas.microsoft.com/office/drawing/2014/main" id="{BC0FA07D-F929-7E4C-F340-AA9A1B7062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32896" y="1582826"/>
            <a:ext cx="7626774" cy="2730296"/>
          </a:xfrm>
          <a:prstGeom prst="rect">
            <a:avLst/>
          </a:prstGeom>
        </p:spPr>
      </p:pic>
      <p:sp>
        <p:nvSpPr>
          <p:cNvPr id="8" name="Text 10">
            <a:extLst>
              <a:ext uri="{FF2B5EF4-FFF2-40B4-BE49-F238E27FC236}">
                <a16:creationId xmlns:a16="http://schemas.microsoft.com/office/drawing/2014/main" id="{5E8F6B64-0273-EDE9-CE7D-2D43C5715EE2}"/>
              </a:ext>
            </a:extLst>
          </p:cNvPr>
          <p:cNvSpPr txBox="1"/>
          <p:nvPr/>
        </p:nvSpPr>
        <p:spPr>
          <a:xfrm>
            <a:off x="370282" y="4655604"/>
            <a:ext cx="2772428" cy="268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Três</a:t>
            </a:r>
            <a:r>
              <a:rPr lang="en-US" sz="16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Episódios</a:t>
            </a:r>
            <a:r>
              <a:rPr lang="en-US" sz="16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sz="16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Marcantes</a:t>
            </a:r>
            <a:r>
              <a:rPr lang="en-US" sz="16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:</a:t>
            </a:r>
            <a:endParaRPr lang="en-US" sz="1600">
              <a:latin typeface="Open Sans"/>
              <a:ea typeface="Open Sans"/>
              <a:cs typeface="Open Sans"/>
            </a:endParaRPr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674844BA-3239-9D8D-FE46-8A84CCEBCFE0}"/>
              </a:ext>
            </a:extLst>
          </p:cNvPr>
          <p:cNvSpPr txBox="1"/>
          <p:nvPr/>
        </p:nvSpPr>
        <p:spPr>
          <a:xfrm>
            <a:off x="368577" y="4929171"/>
            <a:ext cx="5778956" cy="525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2008 – 2014 </a:t>
            </a:r>
            <a:r>
              <a:rPr lang="pt-PT" sz="1400">
                <a:latin typeface="Open Sans"/>
                <a:ea typeface="Open Sans"/>
                <a:cs typeface="Open Sans"/>
              </a:rPr>
              <a:t>→</a:t>
            </a:r>
            <a:r>
              <a:rPr lang="en-US" sz="14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Crise </a:t>
            </a:r>
            <a:r>
              <a:rPr lang="en-US" sz="14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Financeira</a:t>
            </a:r>
            <a:r>
              <a:rPr lang="en-US" sz="14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Global:</a:t>
            </a:r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sz="14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Deflação</a:t>
            </a:r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pt-PT" sz="1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→ </a:t>
            </a:r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(</a:t>
            </a:r>
            <a:r>
              <a:rPr lang="en-US" sz="14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mín</a:t>
            </a:r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. -1,7%).</a:t>
            </a:r>
            <a:endParaRPr lang="en-US" sz="1400">
              <a:latin typeface="Open Sans"/>
              <a:ea typeface="Open Sans"/>
              <a:cs typeface="Open Sans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7BC595FD-B9E8-0349-76A1-460A2B15CB1D}"/>
              </a:ext>
            </a:extLst>
          </p:cNvPr>
          <p:cNvSpPr txBox="1"/>
          <p:nvPr/>
        </p:nvSpPr>
        <p:spPr>
          <a:xfrm>
            <a:off x="365307" y="5292951"/>
            <a:ext cx="5728998" cy="78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2020 – 2022 </a:t>
            </a:r>
            <a:r>
              <a:rPr lang="pt-PT" sz="1400">
                <a:latin typeface="Open Sans"/>
                <a:ea typeface="Open Sans"/>
                <a:cs typeface="Open Sans"/>
              </a:rPr>
              <a:t>→</a:t>
            </a:r>
            <a:r>
              <a:rPr lang="en-US" sz="14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COVID-19 + </a:t>
            </a:r>
            <a:r>
              <a:rPr lang="en-US" sz="14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Ucrânia</a:t>
            </a:r>
            <a:r>
              <a:rPr lang="en-US" sz="14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:</a:t>
            </a:r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Choque </a:t>
            </a:r>
            <a:r>
              <a:rPr lang="en-US" sz="14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energético</a:t>
            </a:r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pt-PT" sz="1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→ </a:t>
            </a:r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~10% .</a:t>
            </a:r>
            <a:endParaRPr lang="en-US" sz="1400">
              <a:latin typeface="Open Sans"/>
              <a:ea typeface="Open Sans"/>
              <a:cs typeface="Open Sans"/>
            </a:endParaRPr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2D1D23A6-6C3B-AC8F-C212-3471A11BDF9A}"/>
              </a:ext>
            </a:extLst>
          </p:cNvPr>
          <p:cNvSpPr txBox="1"/>
          <p:nvPr/>
        </p:nvSpPr>
        <p:spPr>
          <a:xfrm>
            <a:off x="365308" y="5933584"/>
            <a:ext cx="6741236" cy="67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2023 – 2025 </a:t>
            </a:r>
            <a:r>
              <a:rPr lang="pt-PT" sz="1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→ </a:t>
            </a:r>
            <a:r>
              <a:rPr lang="pt-PT" sz="14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Desinflação Gradual</a:t>
            </a:r>
            <a:r>
              <a:rPr lang="en-US" sz="14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:</a:t>
            </a:r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Aperto</a:t>
            </a:r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do BCE </a:t>
            </a:r>
            <a:r>
              <a:rPr lang="pt-PT" sz="1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→ </a:t>
            </a:r>
            <a:r>
              <a:rPr lang="en-US" sz="14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convergência</a:t>
            </a:r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para 2%.</a:t>
            </a:r>
            <a:endParaRPr lang="en-US" sz="1400">
              <a:latin typeface="Open Sans"/>
              <a:ea typeface="Open Sans"/>
              <a:cs typeface="Open Sans"/>
            </a:endParaRPr>
          </a:p>
        </p:txBody>
      </p:sp>
      <p:pic>
        <p:nvPicPr>
          <p:cNvPr id="30" name="Image 1" descr="gen-dedup-83fbd49e158c8174a358d9713ecb9497.png">
            <a:extLst>
              <a:ext uri="{FF2B5EF4-FFF2-40B4-BE49-F238E27FC236}">
                <a16:creationId xmlns:a16="http://schemas.microsoft.com/office/drawing/2014/main" id="{D0B2B446-B01E-9711-CE8D-76B4C35A9DC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5" r="-35"/>
          <a:stretch/>
        </p:blipFill>
        <p:spPr>
          <a:xfrm>
            <a:off x="6715991" y="4934119"/>
            <a:ext cx="5030050" cy="1020373"/>
          </a:xfrm>
          <a:prstGeom prst="rect">
            <a:avLst/>
          </a:prstGeom>
        </p:spPr>
      </p:pic>
      <p:sp>
        <p:nvSpPr>
          <p:cNvPr id="31" name="Text 12">
            <a:extLst>
              <a:ext uri="{FF2B5EF4-FFF2-40B4-BE49-F238E27FC236}">
                <a16:creationId xmlns:a16="http://schemas.microsoft.com/office/drawing/2014/main" id="{32DC19B4-7C20-AE41-1E91-957B9751A5DF}"/>
              </a:ext>
            </a:extLst>
          </p:cNvPr>
          <p:cNvSpPr txBox="1"/>
          <p:nvPr/>
        </p:nvSpPr>
        <p:spPr>
          <a:xfrm>
            <a:off x="6863473" y="5053062"/>
            <a:ext cx="4741221" cy="78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Sem </a:t>
            </a:r>
            <a:r>
              <a:rPr lang="en-US" sz="1400" b="1" err="1">
                <a:solidFill>
                  <a:schemeClr val="bg1"/>
                </a:solidFill>
                <a:ea typeface="+mn-lt"/>
                <a:cs typeface="+mn-lt"/>
              </a:rPr>
              <a:t>padrão</a:t>
            </a:r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b="1" err="1">
                <a:solidFill>
                  <a:schemeClr val="bg1"/>
                </a:solidFill>
                <a:ea typeface="+mn-lt"/>
                <a:cs typeface="+mn-lt"/>
              </a:rPr>
              <a:t>sazonal</a:t>
            </a:r>
            <a:endParaRPr lang="pt-PT" b="1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endParaRPr lang="en-US" sz="1400" b="1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      A </a:t>
            </a:r>
            <a:r>
              <a:rPr lang="en-US" sz="1400" b="1" err="1">
                <a:solidFill>
                  <a:schemeClr val="bg1"/>
                </a:solidFill>
                <a:ea typeface="+mn-lt"/>
                <a:cs typeface="+mn-lt"/>
              </a:rPr>
              <a:t>inflação</a:t>
            </a:r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 é </a:t>
            </a:r>
            <a:r>
              <a:rPr lang="en-US" sz="1400" b="1" err="1">
                <a:solidFill>
                  <a:schemeClr val="bg1"/>
                </a:solidFill>
                <a:ea typeface="+mn-lt"/>
                <a:cs typeface="+mn-lt"/>
              </a:rPr>
              <a:t>dominada</a:t>
            </a:r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b="1" err="1">
                <a:solidFill>
                  <a:schemeClr val="bg1"/>
                </a:solidFill>
                <a:ea typeface="+mn-lt"/>
                <a:cs typeface="+mn-lt"/>
              </a:rPr>
              <a:t>por</a:t>
            </a:r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b="1" err="1">
                <a:solidFill>
                  <a:schemeClr val="bg1"/>
                </a:solidFill>
                <a:ea typeface="+mn-lt"/>
                <a:cs typeface="+mn-lt"/>
              </a:rPr>
              <a:t>choques</a:t>
            </a:r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b="1" err="1">
                <a:solidFill>
                  <a:schemeClr val="bg1"/>
                </a:solidFill>
                <a:ea typeface="+mn-lt"/>
                <a:cs typeface="+mn-lt"/>
              </a:rPr>
              <a:t>externos</a:t>
            </a:r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1400" b="1" err="1">
                <a:solidFill>
                  <a:schemeClr val="bg1"/>
                </a:solidFill>
                <a:ea typeface="+mn-lt"/>
                <a:cs typeface="+mn-lt"/>
              </a:rPr>
              <a:t>não</a:t>
            </a:r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b="1" err="1">
                <a:solidFill>
                  <a:schemeClr val="bg1"/>
                </a:solidFill>
                <a:ea typeface="+mn-lt"/>
                <a:cs typeface="+mn-lt"/>
              </a:rPr>
              <a:t>por</a:t>
            </a:r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b="1" err="1">
                <a:solidFill>
                  <a:schemeClr val="bg1"/>
                </a:solidFill>
                <a:ea typeface="+mn-lt"/>
                <a:cs typeface="+mn-lt"/>
              </a:rPr>
              <a:t>ciclos</a:t>
            </a:r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400" b="1" err="1">
                <a:solidFill>
                  <a:schemeClr val="bg1"/>
                </a:solidFill>
                <a:ea typeface="+mn-lt"/>
                <a:cs typeface="+mn-lt"/>
              </a:rPr>
              <a:t>regulares</a:t>
            </a:r>
            <a:r>
              <a:rPr lang="en-US" sz="1400" b="1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pt-PT" b="1">
              <a:solidFill>
                <a:schemeClr val="bg1"/>
              </a:solidFill>
              <a:ea typeface="Open Sans"/>
              <a:cs typeface="Open Sans"/>
            </a:endParaRPr>
          </a:p>
        </p:txBody>
      </p:sp>
      <p:sp>
        <p:nvSpPr>
          <p:cNvPr id="32" name="Seta: Para a Direita 31">
            <a:extLst>
              <a:ext uri="{FF2B5EF4-FFF2-40B4-BE49-F238E27FC236}">
                <a16:creationId xmlns:a16="http://schemas.microsoft.com/office/drawing/2014/main" id="{DD2D785A-D15D-E764-4F9F-8D3079221835}"/>
              </a:ext>
            </a:extLst>
          </p:cNvPr>
          <p:cNvSpPr/>
          <p:nvPr/>
        </p:nvSpPr>
        <p:spPr>
          <a:xfrm rot="5400000">
            <a:off x="9165926" y="5333244"/>
            <a:ext cx="129715" cy="53649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CE9BB17C-2A2C-1CFF-E6B9-E2075E9071F6}"/>
              </a:ext>
            </a:extLst>
          </p:cNvPr>
          <p:cNvSpPr txBox="1"/>
          <p:nvPr/>
        </p:nvSpPr>
        <p:spPr>
          <a:xfrm>
            <a:off x="11157172" y="156667"/>
            <a:ext cx="660197" cy="55321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01</a:t>
            </a:r>
            <a:endParaRPr lang="en-US" sz="3900">
              <a:solidFill>
                <a:srgbClr val="0E2A47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2001500" y="0"/>
            <a:ext cx="190195" cy="6858000"/>
          </a:xfrm>
          <a:prstGeom prst="rect">
            <a:avLst/>
          </a:prstGeom>
          <a:solidFill>
            <a:srgbClr val="0E2A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61695" y="2000707"/>
            <a:ext cx="10496398" cy="1162202"/>
          </a:xfrm>
          <a:prstGeom prst="roundRect">
            <a:avLst>
              <a:gd name="adj" fmla="val 1031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61695" y="3429000"/>
            <a:ext cx="10496398" cy="1162202"/>
          </a:xfrm>
          <a:prstGeom prst="roundRect">
            <a:avLst>
              <a:gd name="adj" fmla="val 1031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61695" y="4858207"/>
            <a:ext cx="10496398" cy="1162202"/>
          </a:xfrm>
          <a:prstGeom prst="roundRect">
            <a:avLst>
              <a:gd name="adj" fmla="val 1031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9" name="Image 1" descr="gen-dedup-8be60c0d0ad40dc2a1fc9192a477e42e.png"/>
          <p:cNvPicPr>
            <a:picLocks noChangeAspect="1"/>
          </p:cNvPicPr>
          <p:nvPr/>
        </p:nvPicPr>
        <p:blipFill>
          <a:blip r:embed="rId3"/>
          <a:srcRect t="-201" b="-201"/>
          <a:stretch/>
        </p:blipFill>
        <p:spPr>
          <a:xfrm>
            <a:off x="761695" y="2000707"/>
            <a:ext cx="75895" cy="1143000"/>
          </a:xfrm>
          <a:prstGeom prst="rect">
            <a:avLst/>
          </a:prstGeom>
        </p:spPr>
      </p:pic>
      <p:pic>
        <p:nvPicPr>
          <p:cNvPr id="10" name="Image 2" descr="gen-dedup-8be60c0d0ad40dc2a1fc9192a477e42e.png"/>
          <p:cNvPicPr>
            <a:picLocks noChangeAspect="1"/>
          </p:cNvPicPr>
          <p:nvPr/>
        </p:nvPicPr>
        <p:blipFill>
          <a:blip r:embed="rId3"/>
          <a:srcRect t="-201" b="-201"/>
          <a:stretch/>
        </p:blipFill>
        <p:spPr>
          <a:xfrm>
            <a:off x="761695" y="3429000"/>
            <a:ext cx="75895" cy="1143000"/>
          </a:xfrm>
          <a:prstGeom prst="rect">
            <a:avLst/>
          </a:prstGeom>
        </p:spPr>
      </p:pic>
      <p:pic>
        <p:nvPicPr>
          <p:cNvPr id="11" name="Image 3" descr="gen-dedup-8be60c0d0ad40dc2a1fc9192a477e42e.png"/>
          <p:cNvPicPr>
            <a:picLocks noChangeAspect="1"/>
          </p:cNvPicPr>
          <p:nvPr/>
        </p:nvPicPr>
        <p:blipFill>
          <a:blip r:embed="rId3"/>
          <a:srcRect t="-201" b="-201"/>
          <a:stretch/>
        </p:blipFill>
        <p:spPr>
          <a:xfrm>
            <a:off x="761695" y="4858207"/>
            <a:ext cx="75895" cy="11430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761694" y="809243"/>
            <a:ext cx="5400000" cy="72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100" b="1" err="1">
                <a:solidFill>
                  <a:srgbClr val="0E2A47"/>
                </a:solidFill>
                <a:ea typeface="Open Sans"/>
                <a:cs typeface="Open Sans"/>
              </a:rPr>
              <a:t>Os</a:t>
            </a:r>
            <a:r>
              <a:rPr lang="en-US" sz="3100" b="1">
                <a:solidFill>
                  <a:srgbClr val="0E2A47"/>
                </a:solidFill>
                <a:ea typeface="Open Sans"/>
                <a:cs typeface="Open Sans"/>
              </a:rPr>
              <a:t> </a:t>
            </a:r>
            <a:r>
              <a:rPr lang="en-US" sz="3100" b="1" err="1">
                <a:solidFill>
                  <a:srgbClr val="0E2A47"/>
                </a:solidFill>
                <a:ea typeface="Open Sans"/>
                <a:cs typeface="Open Sans"/>
              </a:rPr>
              <a:t>Desafios</a:t>
            </a:r>
            <a:r>
              <a:rPr lang="en-US" sz="3100" b="1">
                <a:solidFill>
                  <a:srgbClr val="0E2A47"/>
                </a:solidFill>
                <a:ea typeface="Open Sans"/>
                <a:cs typeface="Open Sans"/>
              </a:rPr>
              <a:t> </a:t>
            </a:r>
            <a:r>
              <a:rPr lang="en-US" sz="3100" b="1" err="1">
                <a:solidFill>
                  <a:srgbClr val="0E2A47"/>
                </a:solidFill>
                <a:ea typeface="Open Sans"/>
                <a:cs typeface="Open Sans"/>
              </a:rPr>
              <a:t>Explorados</a:t>
            </a:r>
          </a:p>
        </p:txBody>
      </p:sp>
      <p:sp>
        <p:nvSpPr>
          <p:cNvPr id="14" name="Text 7"/>
          <p:cNvSpPr txBox="1"/>
          <p:nvPr/>
        </p:nvSpPr>
        <p:spPr>
          <a:xfrm>
            <a:off x="1145743" y="2324405"/>
            <a:ext cx="66019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01</a:t>
            </a:r>
            <a:endParaRPr lang="en-US" sz="39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 8"/>
          <p:cNvSpPr txBox="1"/>
          <p:nvPr/>
        </p:nvSpPr>
        <p:spPr>
          <a:xfrm>
            <a:off x="2095805" y="2275027"/>
            <a:ext cx="87636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Os</a:t>
            </a:r>
            <a:r>
              <a:rPr lang="en-US" sz="18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b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modelos</a:t>
            </a:r>
            <a:r>
              <a:rPr lang="en-US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de</a:t>
            </a:r>
            <a:r>
              <a:rPr lang="en-US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b="1" i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Machine Learning </a:t>
            </a:r>
            <a:r>
              <a:rPr lang="en-US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(ML)</a:t>
            </a:r>
            <a:r>
              <a:rPr lang="en-US" sz="1800" b="1" i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800" b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superam</a:t>
            </a:r>
            <a:r>
              <a:rPr lang="en-US" sz="18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800" b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os</a:t>
            </a:r>
            <a:r>
              <a:rPr lang="en-US" sz="18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800" b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modelos</a:t>
            </a:r>
            <a:r>
              <a:rPr lang="en-US" sz="18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800" b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econométricos</a:t>
            </a:r>
            <a:r>
              <a:rPr lang="en-US" sz="18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800" b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tradicionais</a:t>
            </a:r>
            <a:r>
              <a:rPr lang="en-US" sz="18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800" b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na</a:t>
            </a:r>
            <a:r>
              <a:rPr lang="en-US" sz="18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800" b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previsão</a:t>
            </a:r>
            <a:r>
              <a:rPr lang="en-US" sz="18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da </a:t>
            </a:r>
            <a:r>
              <a:rPr lang="en-US" sz="1800" b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inflação</a:t>
            </a:r>
            <a:r>
              <a:rPr lang="en-US" sz="18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800" b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em</a:t>
            </a:r>
            <a:r>
              <a:rPr lang="en-US" sz="18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Portugal?</a:t>
            </a:r>
            <a:endParaRPr lang="en-US" sz="1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Text 9"/>
          <p:cNvSpPr txBox="1"/>
          <p:nvPr/>
        </p:nvSpPr>
        <p:spPr>
          <a:xfrm>
            <a:off x="1145743" y="3752698"/>
            <a:ext cx="66019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02</a:t>
            </a:r>
            <a:endParaRPr lang="en-US" sz="39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 10"/>
          <p:cNvSpPr txBox="1"/>
          <p:nvPr/>
        </p:nvSpPr>
        <p:spPr>
          <a:xfrm>
            <a:off x="2095805" y="3703320"/>
            <a:ext cx="87636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Quais </a:t>
            </a:r>
            <a:r>
              <a:rPr lang="en-US" sz="1800" b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os</a:t>
            </a:r>
            <a:r>
              <a:rPr lang="en-US" sz="18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principais</a:t>
            </a:r>
            <a:r>
              <a:rPr lang="en-US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fatores</a:t>
            </a:r>
            <a:r>
              <a:rPr lang="en-US" sz="18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e </a:t>
            </a:r>
            <a:r>
              <a:rPr lang="en-US" sz="1800" b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variáveis</a:t>
            </a:r>
            <a:r>
              <a:rPr lang="en-US" sz="18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800" b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determinantes</a:t>
            </a:r>
            <a:r>
              <a:rPr lang="en-US" sz="18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da </a:t>
            </a:r>
            <a:r>
              <a:rPr lang="en-US" sz="1800" b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dinâmica</a:t>
            </a:r>
            <a:r>
              <a:rPr lang="en-US" sz="18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800" b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inflacionista</a:t>
            </a:r>
            <a:r>
              <a:rPr lang="en-US" sz="18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800" b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portuguesa</a:t>
            </a:r>
            <a:r>
              <a:rPr lang="en-US" sz="18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?</a:t>
            </a:r>
            <a:endParaRPr lang="en-US" sz="1800">
              <a:latin typeface="Open Sans"/>
              <a:ea typeface="Open Sans"/>
              <a:cs typeface="Open Sans"/>
            </a:endParaRPr>
          </a:p>
        </p:txBody>
      </p:sp>
      <p:sp>
        <p:nvSpPr>
          <p:cNvPr id="18" name="Text 11"/>
          <p:cNvSpPr txBox="1"/>
          <p:nvPr/>
        </p:nvSpPr>
        <p:spPr>
          <a:xfrm>
            <a:off x="1145743" y="5181905"/>
            <a:ext cx="66019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03</a:t>
            </a:r>
            <a:endParaRPr lang="en-US" sz="39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 12"/>
          <p:cNvSpPr txBox="1"/>
          <p:nvPr/>
        </p:nvSpPr>
        <p:spPr>
          <a:xfrm>
            <a:off x="2095805" y="5132527"/>
            <a:ext cx="87636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inclusão de </a:t>
            </a:r>
            <a:r>
              <a:rPr lang="en-US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indicadores de sentimento e incerteza</a:t>
            </a:r>
            <a:r>
              <a:rPr lang="en-US" sz="1800" b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(EPU, CCI) melhora o desempenho preditivo?</a:t>
            </a:r>
            <a:endParaRPr lang="en-US" sz="1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1" name="Image 1" descr="gen-dedup-44d113b94a040fa597d5956dbb209098.png">
            <a:extLst>
              <a:ext uri="{FF2B5EF4-FFF2-40B4-BE49-F238E27FC236}">
                <a16:creationId xmlns:a16="http://schemas.microsoft.com/office/drawing/2014/main" id="{4C57F364-7591-D8D2-DE73-AD8D360B97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39" r="1239"/>
          <a:stretch/>
        </p:blipFill>
        <p:spPr>
          <a:xfrm>
            <a:off x="-2287" y="-10758"/>
            <a:ext cx="1478585" cy="444184"/>
          </a:xfrm>
          <a:prstGeom prst="rect">
            <a:avLst/>
          </a:prstGeom>
        </p:spPr>
      </p:pic>
      <p:sp>
        <p:nvSpPr>
          <p:cNvPr id="22" name="Text 24">
            <a:extLst>
              <a:ext uri="{FF2B5EF4-FFF2-40B4-BE49-F238E27FC236}">
                <a16:creationId xmlns:a16="http://schemas.microsoft.com/office/drawing/2014/main" id="{5151C4DD-AD90-EF45-B2B3-CF06575BF028}"/>
              </a:ext>
            </a:extLst>
          </p:cNvPr>
          <p:cNvSpPr txBox="1"/>
          <p:nvPr/>
        </p:nvSpPr>
        <p:spPr>
          <a:xfrm>
            <a:off x="11525098" y="6381598"/>
            <a:ext cx="286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05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3758638C-E275-C2F7-9538-DB12FF588BFB}"/>
              </a:ext>
            </a:extLst>
          </p:cNvPr>
          <p:cNvSpPr txBox="1"/>
          <p:nvPr/>
        </p:nvSpPr>
        <p:spPr>
          <a:xfrm>
            <a:off x="11157172" y="156667"/>
            <a:ext cx="660197" cy="55321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01</a:t>
            </a:r>
            <a:endParaRPr lang="en-US" sz="3900">
              <a:solidFill>
                <a:srgbClr val="0E2A47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2001500" y="0"/>
            <a:ext cx="190195" cy="6858000"/>
          </a:xfrm>
          <a:prstGeom prst="rect">
            <a:avLst/>
          </a:prstGeom>
          <a:solidFill>
            <a:srgbClr val="0E2A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61695" y="1519294"/>
            <a:ext cx="3258007" cy="1067105"/>
          </a:xfrm>
          <a:prstGeom prst="roundRect">
            <a:avLst>
              <a:gd name="adj" fmla="val 1224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286707" y="1519294"/>
            <a:ext cx="3258007" cy="1067105"/>
          </a:xfrm>
          <a:prstGeom prst="roundRect">
            <a:avLst>
              <a:gd name="adj" fmla="val 1224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810805" y="1519294"/>
            <a:ext cx="3258007" cy="1067105"/>
          </a:xfrm>
          <a:prstGeom prst="roundRect">
            <a:avLst>
              <a:gd name="adj" fmla="val 1224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9" name="Image 1" descr="gen-dedup-5329c2526ddfb8837569d37594b2705e.png"/>
          <p:cNvPicPr>
            <a:picLocks noChangeAspect="1"/>
          </p:cNvPicPr>
          <p:nvPr/>
        </p:nvPicPr>
        <p:blipFill>
          <a:blip r:embed="rId3"/>
          <a:srcRect l="-398" r="-398"/>
          <a:stretch/>
        </p:blipFill>
        <p:spPr>
          <a:xfrm>
            <a:off x="6201733" y="3047695"/>
            <a:ext cx="19202" cy="333390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61695" y="518939"/>
            <a:ext cx="5400000" cy="72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i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</a:t>
            </a:r>
            <a:r>
              <a:rPr lang="en-US" sz="40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&amp; Fontes</a:t>
            </a:r>
            <a:endParaRPr lang="en-US" sz="4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 7"/>
          <p:cNvSpPr txBox="1"/>
          <p:nvPr/>
        </p:nvSpPr>
        <p:spPr>
          <a:xfrm>
            <a:off x="857707" y="1661940"/>
            <a:ext cx="3048610" cy="769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310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ctr">
              <a:buNone/>
            </a:pPr>
            <a:r>
              <a:rPr lang="en-US" b="1" err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Observações</a:t>
            </a:r>
            <a:r>
              <a:rPr lang="en-US" b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b="1" err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Mensais</a:t>
            </a:r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Text 8"/>
          <p:cNvSpPr txBox="1"/>
          <p:nvPr/>
        </p:nvSpPr>
        <p:spPr>
          <a:xfrm>
            <a:off x="4381805" y="1661940"/>
            <a:ext cx="3048610" cy="769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121 → 21</a:t>
            </a:r>
            <a:endParaRPr lang="en-US" sz="1200">
              <a:latin typeface="Open Sans"/>
              <a:ea typeface="Open Sans"/>
              <a:cs typeface="Open Sans"/>
            </a:endParaRPr>
          </a:p>
          <a:p>
            <a:pPr marL="0" indent="0" algn="ctr">
              <a:buNone/>
            </a:pPr>
            <a:r>
              <a:rPr lang="en-US" b="1" err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Variáveis</a:t>
            </a:r>
            <a:r>
              <a:rPr lang="en-US" b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b="1" err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Seleccionadas</a:t>
            </a:r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7905902" y="1661940"/>
            <a:ext cx="3048610" cy="769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r>
            <a:endParaRPr lang="en-US" sz="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ctr">
              <a:buNone/>
            </a:pPr>
            <a:r>
              <a:rPr lang="en-US" b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Fontes de Dados</a:t>
            </a:r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706934" y="2770542"/>
            <a:ext cx="48582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Fontes </a:t>
            </a:r>
          </a:p>
        </p:txBody>
      </p:sp>
      <p:sp>
        <p:nvSpPr>
          <p:cNvPr id="16" name="Text 11"/>
          <p:cNvSpPr txBox="1"/>
          <p:nvPr/>
        </p:nvSpPr>
        <p:spPr>
          <a:xfrm>
            <a:off x="757057" y="3228361"/>
            <a:ext cx="4627908" cy="474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BPstat</a:t>
            </a:r>
            <a:r>
              <a:rPr lang="en-US" sz="16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: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variável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alvo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+ taxa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câmbio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EUR/USD</a:t>
            </a:r>
            <a:endParaRPr lang="en-US" sz="1600">
              <a:latin typeface="Open Sans"/>
              <a:ea typeface="Open Sans"/>
              <a:cs typeface="Open Sans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737012" y="3706071"/>
            <a:ext cx="5640566" cy="702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Euro Area: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Indicadores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Macro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Portugueses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(99)</a:t>
            </a:r>
            <a:endParaRPr lang="en-US" sz="1600">
              <a:solidFill>
                <a:srgbClr val="333333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706934" y="4422656"/>
            <a:ext cx="5353812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FRED-MD: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Indicadores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económicos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EUA (15)</a:t>
            </a:r>
            <a:endParaRPr lang="en-US" sz="1600">
              <a:latin typeface="Open Sans"/>
              <a:ea typeface="Open Sans"/>
              <a:cs typeface="Open Sans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737012" y="5053476"/>
            <a:ext cx="5931328" cy="489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EPU Portugal (Morão, 2024):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Índice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de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incerteza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política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</a:p>
        </p:txBody>
      </p:sp>
      <p:sp>
        <p:nvSpPr>
          <p:cNvPr id="20" name="Text 15"/>
          <p:cNvSpPr txBox="1"/>
          <p:nvPr/>
        </p:nvSpPr>
        <p:spPr>
          <a:xfrm>
            <a:off x="706933" y="5614111"/>
            <a:ext cx="5470117" cy="39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PPI Portugal (</a:t>
            </a:r>
            <a:r>
              <a:rPr lang="en-US" sz="16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EuroS</a:t>
            </a:r>
            <a:r>
              <a:rPr lang="en-US" sz="16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tat):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Índice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de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Preços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no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Produtor</a:t>
            </a:r>
            <a:endParaRPr lang="en-US" sz="1600">
              <a:solidFill>
                <a:srgbClr val="33333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726985" y="6133295"/>
            <a:ext cx="5219460" cy="475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Desemprego</a:t>
            </a:r>
            <a:r>
              <a:rPr lang="en-US" sz="16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(OCDE):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 Taxa de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desemprego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(mensal)</a:t>
            </a:r>
          </a:p>
        </p:txBody>
      </p:sp>
      <p:sp>
        <p:nvSpPr>
          <p:cNvPr id="23" name="Text 18"/>
          <p:cNvSpPr txBox="1"/>
          <p:nvPr/>
        </p:nvSpPr>
        <p:spPr>
          <a:xfrm>
            <a:off x="6371572" y="2947432"/>
            <a:ext cx="48582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Partição</a:t>
            </a:r>
            <a:r>
              <a:rPr lang="en-US" sz="20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Temporal </a:t>
            </a:r>
          </a:p>
        </p:txBody>
      </p:sp>
      <p:sp>
        <p:nvSpPr>
          <p:cNvPr id="24" name="Text 19"/>
          <p:cNvSpPr txBox="1"/>
          <p:nvPr/>
        </p:nvSpPr>
        <p:spPr>
          <a:xfrm>
            <a:off x="6372181" y="3714598"/>
            <a:ext cx="46680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Período</a:t>
            </a:r>
            <a:r>
              <a:rPr lang="en-US" sz="1600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 Total: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Jan/2000 </a:t>
            </a:r>
            <a:r>
              <a:rPr lang="pt-PT" sz="1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→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 Out/2025</a:t>
            </a:r>
            <a:endParaRPr lang="en-US" sz="1600">
              <a:latin typeface="Open Sans"/>
              <a:ea typeface="Open Sans"/>
              <a:cs typeface="Open Sans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6372181" y="4448525"/>
            <a:ext cx="5359826" cy="340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Treino</a:t>
            </a:r>
            <a:r>
              <a:rPr lang="en-US" sz="1600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 (91%):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Jan/2000 </a:t>
            </a:r>
            <a:r>
              <a:rPr lang="pt-PT" sz="1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→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 Jun/2023 </a:t>
            </a:r>
            <a:r>
              <a:rPr lang="en-US" sz="16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(282 </a:t>
            </a:r>
            <a:r>
              <a:rPr lang="en-US" sz="1600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observações</a:t>
            </a:r>
            <a:r>
              <a:rPr lang="en-US" sz="16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)</a:t>
            </a:r>
            <a:endParaRPr lang="en-US" sz="1600">
              <a:latin typeface="Open Sans"/>
              <a:ea typeface="Open Sans"/>
              <a:cs typeface="Open Sans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6372181" y="4901714"/>
            <a:ext cx="4868538" cy="25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Teste (9%):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Jul/2023 </a:t>
            </a:r>
            <a:r>
              <a:rPr lang="pt-PT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→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 Out/2025 </a:t>
            </a:r>
            <a:r>
              <a:rPr lang="en-US" sz="16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(28 </a:t>
            </a:r>
            <a:r>
              <a:rPr lang="en-US" sz="1600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observações</a:t>
            </a:r>
            <a:r>
              <a:rPr lang="en-US" sz="16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)</a:t>
            </a:r>
            <a:endParaRPr lang="en-US" sz="1600">
              <a:latin typeface="Open Sans"/>
              <a:ea typeface="Open Sans"/>
              <a:cs typeface="Open Sans"/>
            </a:endParaRPr>
          </a:p>
        </p:txBody>
      </p:sp>
      <p:pic>
        <p:nvPicPr>
          <p:cNvPr id="30" name="Image 1" descr="gen-dedup-44d113b94a040fa597d5956dbb209098.png">
            <a:extLst>
              <a:ext uri="{FF2B5EF4-FFF2-40B4-BE49-F238E27FC236}">
                <a16:creationId xmlns:a16="http://schemas.microsoft.com/office/drawing/2014/main" id="{BB1D9198-5550-D0BF-3C61-8F2C0E0750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39" r="1239"/>
          <a:stretch/>
        </p:blipFill>
        <p:spPr>
          <a:xfrm>
            <a:off x="-2287" y="-10758"/>
            <a:ext cx="1478585" cy="444184"/>
          </a:xfrm>
          <a:prstGeom prst="rect">
            <a:avLst/>
          </a:prstGeom>
        </p:spPr>
      </p:pic>
      <p:sp>
        <p:nvSpPr>
          <p:cNvPr id="31" name="Text 24">
            <a:extLst>
              <a:ext uri="{FF2B5EF4-FFF2-40B4-BE49-F238E27FC236}">
                <a16:creationId xmlns:a16="http://schemas.microsoft.com/office/drawing/2014/main" id="{23C90D2F-4C54-A50F-B12D-7EA408C35517}"/>
              </a:ext>
            </a:extLst>
          </p:cNvPr>
          <p:cNvSpPr txBox="1"/>
          <p:nvPr/>
        </p:nvSpPr>
        <p:spPr>
          <a:xfrm>
            <a:off x="11525098" y="6381598"/>
            <a:ext cx="286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06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35938225-9853-5E9B-70D5-79D8E4AE24E4}"/>
              </a:ext>
            </a:extLst>
          </p:cNvPr>
          <p:cNvSpPr txBox="1"/>
          <p:nvPr/>
        </p:nvSpPr>
        <p:spPr>
          <a:xfrm>
            <a:off x="11157172" y="156667"/>
            <a:ext cx="660197" cy="55321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02</a:t>
            </a:r>
            <a:endParaRPr lang="en-US" sz="3900">
              <a:solidFill>
                <a:srgbClr val="0E2A47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2001500" y="0"/>
            <a:ext cx="190195" cy="6858000"/>
          </a:xfrm>
          <a:prstGeom prst="rect">
            <a:avLst/>
          </a:prstGeom>
          <a:solidFill>
            <a:srgbClr val="0E2A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6847492" y="1124174"/>
            <a:ext cx="4791906" cy="2828012"/>
          </a:xfrm>
          <a:prstGeom prst="roundRect">
            <a:avLst>
              <a:gd name="adj" fmla="val 157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758592" y="4023615"/>
            <a:ext cx="10880805" cy="2549019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761695" y="666598"/>
            <a:ext cx="5400000" cy="72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Padrões</a:t>
            </a:r>
            <a:r>
              <a:rPr lang="en-US" sz="28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e </a:t>
            </a:r>
            <a:r>
              <a:rPr lang="en-US" sz="28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Relações</a:t>
            </a:r>
            <a:r>
              <a:rPr lang="en-US" sz="28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8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nos</a:t>
            </a:r>
            <a:r>
              <a:rPr lang="en-US" sz="28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Dados</a:t>
            </a:r>
            <a:endParaRPr lang="pt-PT" sz="2800">
              <a:ea typeface="Open Sans"/>
              <a:cs typeface="Open Sans"/>
            </a:endParaRPr>
          </a:p>
        </p:txBody>
      </p:sp>
      <p:sp>
        <p:nvSpPr>
          <p:cNvPr id="22" name="Text 16"/>
          <p:cNvSpPr txBox="1"/>
          <p:nvPr/>
        </p:nvSpPr>
        <p:spPr>
          <a:xfrm>
            <a:off x="868627" y="1808520"/>
            <a:ext cx="5051201" cy="427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Forte </a:t>
            </a:r>
            <a:r>
              <a:rPr lang="en-US" sz="1600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Inércia</a:t>
            </a:r>
            <a:r>
              <a:rPr lang="en-US" sz="1600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Inflacionista</a:t>
            </a:r>
            <a:r>
              <a:rPr lang="en-US" sz="1600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:</a:t>
            </a:r>
            <a:endParaRPr lang="en-US" sz="16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Autocorrelação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do 1º </a:t>
            </a:r>
            <a:r>
              <a:rPr lang="en-US" sz="1600" i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lag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: ρ=0,98 </a:t>
            </a:r>
            <a:r>
              <a:rPr lang="pt-PT" sz="1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→ 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12º </a:t>
            </a:r>
            <a:r>
              <a:rPr lang="en-US" sz="1600" i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lag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: ρ=0,4</a:t>
            </a:r>
            <a:endParaRPr lang="en-US" sz="1600">
              <a:latin typeface="Open Sans"/>
              <a:ea typeface="Open Sans"/>
              <a:cs typeface="Open Sans"/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952805" y="2697571"/>
            <a:ext cx="5240673" cy="664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Relações</a:t>
            </a:r>
            <a:r>
              <a:rPr lang="en-US" sz="1600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não-lineares</a:t>
            </a:r>
            <a:r>
              <a:rPr lang="en-US" sz="1600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:</a:t>
            </a:r>
          </a:p>
          <a:p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 A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maioria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absoluta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das 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variáveis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apresentam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relações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não-lineares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com a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Inflação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pt-PT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→ justifica modelos ML.</a:t>
            </a:r>
          </a:p>
        </p:txBody>
      </p:sp>
      <p:sp>
        <p:nvSpPr>
          <p:cNvPr id="26" name="Text 19"/>
          <p:cNvSpPr txBox="1"/>
          <p:nvPr/>
        </p:nvSpPr>
        <p:spPr>
          <a:xfrm>
            <a:off x="7397453" y="4823227"/>
            <a:ext cx="3769599" cy="1026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O </a:t>
            </a:r>
            <a:r>
              <a:rPr lang="en-US" sz="1600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preço</a:t>
            </a:r>
            <a:r>
              <a:rPr lang="en-US" sz="1600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 do </a:t>
            </a:r>
            <a:r>
              <a:rPr lang="en-US" sz="1600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petróleo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antecipa</a:t>
            </a:r>
            <a:r>
              <a:rPr lang="en-US" sz="1600">
                <a:latin typeface="Open Sans"/>
                <a:ea typeface="Open Sans"/>
                <a:cs typeface="Open Sans"/>
              </a:rPr>
              <a:t> a </a:t>
            </a:r>
            <a:r>
              <a:rPr lang="en-US" sz="1600" err="1">
                <a:latin typeface="Open Sans"/>
                <a:ea typeface="Open Sans"/>
                <a:cs typeface="Open Sans"/>
              </a:rPr>
              <a:t>inflação</a:t>
            </a:r>
            <a:r>
              <a:rPr lang="en-US" sz="1600">
                <a:latin typeface="Open Sans"/>
                <a:ea typeface="Open Sans"/>
                <a:cs typeface="Open Sans"/>
              </a:rPr>
              <a:t> com um </a:t>
            </a:r>
            <a:r>
              <a:rPr lang="en-US" sz="1600" err="1">
                <a:latin typeface="Open Sans"/>
                <a:ea typeface="Open Sans"/>
                <a:cs typeface="Open Sans"/>
              </a:rPr>
              <a:t>desfasamento</a:t>
            </a:r>
            <a:r>
              <a:rPr lang="en-US" sz="1600">
                <a:latin typeface="Open Sans"/>
                <a:ea typeface="Open Sans"/>
                <a:cs typeface="Open Sans"/>
              </a:rPr>
              <a:t> de 4-6 meses.</a:t>
            </a:r>
            <a:endParaRPr lang="en-US" sz="16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9" name="Image 1" descr="gen-dedup-44d113b94a040fa597d5956dbb209098.png">
            <a:extLst>
              <a:ext uri="{FF2B5EF4-FFF2-40B4-BE49-F238E27FC236}">
                <a16:creationId xmlns:a16="http://schemas.microsoft.com/office/drawing/2014/main" id="{842ADBF8-77A3-F7D4-7A58-678BD7ED6D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9" r="1239"/>
          <a:stretch/>
        </p:blipFill>
        <p:spPr>
          <a:xfrm>
            <a:off x="-2287" y="-10758"/>
            <a:ext cx="1478585" cy="444184"/>
          </a:xfrm>
          <a:prstGeom prst="rect">
            <a:avLst/>
          </a:prstGeom>
        </p:spPr>
      </p:pic>
      <p:sp>
        <p:nvSpPr>
          <p:cNvPr id="30" name="Text 24">
            <a:extLst>
              <a:ext uri="{FF2B5EF4-FFF2-40B4-BE49-F238E27FC236}">
                <a16:creationId xmlns:a16="http://schemas.microsoft.com/office/drawing/2014/main" id="{A2FE984B-D1AF-99E2-B0C4-523B24652BEF}"/>
              </a:ext>
            </a:extLst>
          </p:cNvPr>
          <p:cNvSpPr txBox="1"/>
          <p:nvPr/>
        </p:nvSpPr>
        <p:spPr>
          <a:xfrm>
            <a:off x="11525098" y="6381598"/>
            <a:ext cx="286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07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2F6DC881-9656-09F1-058B-A80F0A17C9BE}"/>
              </a:ext>
            </a:extLst>
          </p:cNvPr>
          <p:cNvSpPr txBox="1"/>
          <p:nvPr/>
        </p:nvSpPr>
        <p:spPr>
          <a:xfrm>
            <a:off x="11157172" y="156667"/>
            <a:ext cx="660197" cy="55321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02</a:t>
            </a:r>
            <a:endParaRPr lang="en-US" sz="3900">
              <a:solidFill>
                <a:srgbClr val="0E2A47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D7B799D-3F4F-DFA3-C7F7-2190CA0B3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035" y="4094311"/>
            <a:ext cx="5896010" cy="2477478"/>
          </a:xfrm>
          <a:prstGeom prst="rect">
            <a:avLst/>
          </a:prstGeom>
        </p:spPr>
      </p:pic>
      <p:pic>
        <p:nvPicPr>
          <p:cNvPr id="4" name="Imagem 3" descr="Uma imagem com texto, captura de ecrã, Gráfico, file&#10;&#10;Os conteúdos gerados por IA poderão estar incorretos.">
            <a:extLst>
              <a:ext uri="{FF2B5EF4-FFF2-40B4-BE49-F238E27FC236}">
                <a16:creationId xmlns:a16="http://schemas.microsoft.com/office/drawing/2014/main" id="{E33EA26D-9A24-1C8C-7CFD-226368C7B2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051" y="1177714"/>
            <a:ext cx="4269149" cy="27184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F07BE-6AD6-B54D-8B51-F4B52CA28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EB2DF47-3ABB-6913-1345-D5DF1555017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20A138E-7A99-C787-B493-092A77FEE6A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63389CF-22A1-B525-695E-16432BE81560}"/>
              </a:ext>
            </a:extLst>
          </p:cNvPr>
          <p:cNvSpPr/>
          <p:nvPr/>
        </p:nvSpPr>
        <p:spPr>
          <a:xfrm>
            <a:off x="12001500" y="0"/>
            <a:ext cx="190195" cy="6858000"/>
          </a:xfrm>
          <a:prstGeom prst="rect">
            <a:avLst/>
          </a:prstGeom>
          <a:solidFill>
            <a:srgbClr val="0E2A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74C4C9B8-91D2-C078-71B2-56BCA6D5C440}"/>
              </a:ext>
            </a:extLst>
          </p:cNvPr>
          <p:cNvSpPr/>
          <p:nvPr/>
        </p:nvSpPr>
        <p:spPr>
          <a:xfrm>
            <a:off x="488755" y="1362241"/>
            <a:ext cx="6886924" cy="3172326"/>
          </a:xfrm>
          <a:prstGeom prst="roundRect">
            <a:avLst>
              <a:gd name="adj" fmla="val 157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BB2BC372-015E-41ED-6E23-FAABC8E1A7BA}"/>
              </a:ext>
            </a:extLst>
          </p:cNvPr>
          <p:cNvSpPr txBox="1"/>
          <p:nvPr/>
        </p:nvSpPr>
        <p:spPr>
          <a:xfrm>
            <a:off x="734153" y="436839"/>
            <a:ext cx="5427542" cy="84852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Padrões</a:t>
            </a:r>
            <a:r>
              <a:rPr lang="en-US" sz="28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e </a:t>
            </a:r>
            <a:r>
              <a:rPr lang="en-US" sz="28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Relações</a:t>
            </a:r>
            <a:r>
              <a:rPr lang="en-US" sz="28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8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nos</a:t>
            </a:r>
            <a:r>
              <a:rPr lang="en-US" sz="28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Dados</a:t>
            </a:r>
          </a:p>
          <a:p>
            <a:pPr algn="ctr"/>
            <a:r>
              <a:rPr lang="en-US" sz="2000" b="1">
                <a:solidFill>
                  <a:schemeClr val="accent1">
                    <a:lumMod val="49000"/>
                  </a:schemeClr>
                </a:solidFill>
                <a:latin typeface="Open Sans"/>
                <a:ea typeface="Open Sans"/>
                <a:cs typeface="Open Sans"/>
              </a:rPr>
              <a:t>PPI</a:t>
            </a: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1D1B120A-2863-834D-55B6-5339E346D86F}"/>
              </a:ext>
            </a:extLst>
          </p:cNvPr>
          <p:cNvSpPr txBox="1"/>
          <p:nvPr/>
        </p:nvSpPr>
        <p:spPr>
          <a:xfrm>
            <a:off x="7575114" y="2064470"/>
            <a:ext cx="3947268" cy="1325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O PPI (</a:t>
            </a:r>
            <a:r>
              <a:rPr lang="en-US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Índice</a:t>
            </a:r>
            <a:r>
              <a:rPr lang="en-US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de </a:t>
            </a:r>
            <a:r>
              <a:rPr lang="en-US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Preços</a:t>
            </a:r>
            <a:r>
              <a:rPr lang="en-US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no </a:t>
            </a:r>
            <a:r>
              <a:rPr lang="en-US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Produtor</a:t>
            </a:r>
            <a:r>
              <a:rPr lang="en-US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) </a:t>
            </a:r>
            <a:r>
              <a:rPr lang="en-US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apresenta</a:t>
            </a:r>
            <a:r>
              <a:rPr lang="en-US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correlação</a:t>
            </a:r>
            <a:r>
              <a:rPr lang="en-US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de </a:t>
            </a:r>
            <a:r>
              <a:rPr lang="en-US" i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Pearson</a:t>
            </a:r>
            <a:r>
              <a:rPr lang="en-US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ρ=0,60</a:t>
            </a:r>
            <a:r>
              <a:rPr lang="en-US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, </a:t>
            </a:r>
            <a:r>
              <a:rPr lang="en-US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em</a:t>
            </a:r>
            <a:r>
              <a:rPr lang="en-US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nível</a:t>
            </a:r>
            <a:r>
              <a:rPr lang="en-US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,</a:t>
            </a:r>
            <a:r>
              <a:rPr lang="en-US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com a </a:t>
            </a:r>
            <a:r>
              <a:rPr lang="en-US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inflação</a:t>
            </a:r>
            <a:r>
              <a:rPr lang="en-US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homóloga</a:t>
            </a:r>
            <a:r>
              <a:rPr lang="en-US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pt-PT">
              <a:ea typeface="Open Sans"/>
              <a:cs typeface="Open Sans"/>
            </a:endParaRPr>
          </a:p>
        </p:txBody>
      </p:sp>
      <p:pic>
        <p:nvPicPr>
          <p:cNvPr id="29" name="Image 1" descr="gen-dedup-44d113b94a040fa597d5956dbb209098.png">
            <a:extLst>
              <a:ext uri="{FF2B5EF4-FFF2-40B4-BE49-F238E27FC236}">
                <a16:creationId xmlns:a16="http://schemas.microsoft.com/office/drawing/2014/main" id="{40BAC623-2348-45C6-166D-2A2E0280EB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9" r="1239"/>
          <a:stretch/>
        </p:blipFill>
        <p:spPr>
          <a:xfrm>
            <a:off x="-2287" y="-10758"/>
            <a:ext cx="1478585" cy="444184"/>
          </a:xfrm>
          <a:prstGeom prst="rect">
            <a:avLst/>
          </a:prstGeom>
        </p:spPr>
      </p:pic>
      <p:sp>
        <p:nvSpPr>
          <p:cNvPr id="30" name="Text 24">
            <a:extLst>
              <a:ext uri="{FF2B5EF4-FFF2-40B4-BE49-F238E27FC236}">
                <a16:creationId xmlns:a16="http://schemas.microsoft.com/office/drawing/2014/main" id="{97F30E7C-5E3D-630C-2AA6-A832B281D5FF}"/>
              </a:ext>
            </a:extLst>
          </p:cNvPr>
          <p:cNvSpPr txBox="1"/>
          <p:nvPr/>
        </p:nvSpPr>
        <p:spPr>
          <a:xfrm>
            <a:off x="11525098" y="6381598"/>
            <a:ext cx="286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08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4C5E02A5-59D7-91AB-AA1A-A7662A542F84}"/>
              </a:ext>
            </a:extLst>
          </p:cNvPr>
          <p:cNvSpPr txBox="1"/>
          <p:nvPr/>
        </p:nvSpPr>
        <p:spPr>
          <a:xfrm>
            <a:off x="11157172" y="156667"/>
            <a:ext cx="660197" cy="55321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02</a:t>
            </a:r>
            <a:endParaRPr lang="en-US" sz="3900">
              <a:solidFill>
                <a:srgbClr val="0E2A47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4970E4-03D7-0371-1BDD-8BF939D38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416" y="1651280"/>
            <a:ext cx="6786184" cy="2611365"/>
          </a:xfrm>
          <a:prstGeom prst="rect">
            <a:avLst/>
          </a:prstGeom>
        </p:spPr>
      </p:pic>
      <p:sp>
        <p:nvSpPr>
          <p:cNvPr id="9" name="Shape 5">
            <a:extLst>
              <a:ext uri="{FF2B5EF4-FFF2-40B4-BE49-F238E27FC236}">
                <a16:creationId xmlns:a16="http://schemas.microsoft.com/office/drawing/2014/main" id="{E34E98FA-482B-2C42-19B2-A6A47257EE29}"/>
              </a:ext>
            </a:extLst>
          </p:cNvPr>
          <p:cNvSpPr/>
          <p:nvPr/>
        </p:nvSpPr>
        <p:spPr>
          <a:xfrm>
            <a:off x="487765" y="4676227"/>
            <a:ext cx="10419632" cy="2059100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 19">
            <a:extLst>
              <a:ext uri="{FF2B5EF4-FFF2-40B4-BE49-F238E27FC236}">
                <a16:creationId xmlns:a16="http://schemas.microsoft.com/office/drawing/2014/main" id="{94866F26-7A5E-4556-1D56-55274B981AD6}"/>
              </a:ext>
            </a:extLst>
          </p:cNvPr>
          <p:cNvSpPr txBox="1"/>
          <p:nvPr/>
        </p:nvSpPr>
        <p:spPr>
          <a:xfrm>
            <a:off x="5986994" y="4807229"/>
            <a:ext cx="4725169" cy="1809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O </a:t>
            </a:r>
            <a:r>
              <a:rPr lang="en-US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impacto</a:t>
            </a:r>
            <a:r>
              <a:rPr lang="en-US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é </a:t>
            </a:r>
            <a:r>
              <a:rPr lang="en-US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mais</a:t>
            </a:r>
            <a:r>
              <a:rPr lang="en-US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forte com </a:t>
            </a:r>
            <a:r>
              <a:rPr lang="en-US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desfasamento</a:t>
            </a:r>
            <a:r>
              <a:rPr lang="en-US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de 5 meses (</a:t>
            </a:r>
            <a:r>
              <a:rPr lang="en-US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ρ=0,72</a:t>
            </a:r>
            <a:r>
              <a:rPr lang="en-US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), refletindo a </a:t>
            </a:r>
            <a:r>
              <a:rPr lang="en-US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demora</a:t>
            </a:r>
            <a:r>
              <a:rPr lang="en-US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na</a:t>
            </a:r>
            <a:r>
              <a:rPr lang="en-US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transmissão</a:t>
            </a:r>
            <a:r>
              <a:rPr lang="en-US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de custos </a:t>
            </a:r>
            <a:r>
              <a:rPr lang="en-US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ao</a:t>
            </a:r>
            <a:r>
              <a:rPr lang="en-US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consumidor</a:t>
            </a:r>
            <a:r>
              <a:rPr lang="en-US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.</a:t>
            </a:r>
            <a:endParaRPr lang="en-US">
              <a:latin typeface="Open Sans"/>
              <a:ea typeface="Open Sans"/>
              <a:cs typeface="Open Sans"/>
            </a:endParaRPr>
          </a:p>
        </p:txBody>
      </p:sp>
      <p:pic>
        <p:nvPicPr>
          <p:cNvPr id="4" name="Imagem 3" descr="Uma imagem com texto, file, diagrama, Gráfico&#10;&#10;Os conteúdos gerados por IA poderão estar incorretos.">
            <a:extLst>
              <a:ext uri="{FF2B5EF4-FFF2-40B4-BE49-F238E27FC236}">
                <a16:creationId xmlns:a16="http://schemas.microsoft.com/office/drawing/2014/main" id="{987446F8-481E-D525-202B-B0A73C68E3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3380" y="4803871"/>
            <a:ext cx="3701095" cy="180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355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2001500" y="0"/>
            <a:ext cx="190195" cy="6858000"/>
          </a:xfrm>
          <a:prstGeom prst="rect">
            <a:avLst/>
          </a:prstGeom>
          <a:solidFill>
            <a:srgbClr val="0E2A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" name="Image 1" descr="gen-dedup-3416363aebc6ebea7f982ca40a79bba9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1904695" y="2857500"/>
            <a:ext cx="8382305" cy="38405"/>
          </a:xfrm>
          <a:prstGeom prst="rect">
            <a:avLst/>
          </a:prstGeom>
        </p:spPr>
      </p:pic>
      <p:pic>
        <p:nvPicPr>
          <p:cNvPr id="7" name="Image 2" descr="gen-dedup-33c6664947c2e31362fe1170ef7a9915.png"/>
          <p:cNvPicPr>
            <a:picLocks noChangeAspect="1"/>
          </p:cNvPicPr>
          <p:nvPr/>
        </p:nvPicPr>
        <p:blipFill>
          <a:blip r:embed="rId4"/>
          <a:srcRect l="-19" r="-19"/>
          <a:stretch/>
        </p:blipFill>
        <p:spPr>
          <a:xfrm>
            <a:off x="761695" y="5524805"/>
            <a:ext cx="10820095" cy="76169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61695" y="2095805"/>
            <a:ext cx="2018995" cy="3191256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761695" y="2095805"/>
            <a:ext cx="2018995" cy="38405"/>
          </a:xfrm>
          <a:prstGeom prst="roundRect">
            <a:avLst>
              <a:gd name="adj" fmla="val 179694"/>
            </a:avLst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2952598" y="2095805"/>
            <a:ext cx="2018995" cy="3191256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2952598" y="2095805"/>
            <a:ext cx="2018995" cy="38405"/>
          </a:xfrm>
          <a:prstGeom prst="roundRect">
            <a:avLst>
              <a:gd name="adj" fmla="val 179694"/>
            </a:avLst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5143500" y="2095805"/>
            <a:ext cx="2018995" cy="3191256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5143500" y="2095805"/>
            <a:ext cx="2018995" cy="38405"/>
          </a:xfrm>
          <a:prstGeom prst="roundRect">
            <a:avLst>
              <a:gd name="adj" fmla="val 179694"/>
            </a:avLst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7334402" y="2095805"/>
            <a:ext cx="2018995" cy="3191256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7334402" y="2095805"/>
            <a:ext cx="2018995" cy="38405"/>
          </a:xfrm>
          <a:prstGeom prst="roundRect">
            <a:avLst>
              <a:gd name="adj" fmla="val 179694"/>
            </a:avLst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9525305" y="2095805"/>
            <a:ext cx="2018995" cy="3191256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9525305" y="2095805"/>
            <a:ext cx="2018995" cy="38405"/>
          </a:xfrm>
          <a:prstGeom prst="roundRect">
            <a:avLst>
              <a:gd name="adj" fmla="val 179694"/>
            </a:avLst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 13"/>
          <p:cNvSpPr txBox="1"/>
          <p:nvPr/>
        </p:nvSpPr>
        <p:spPr>
          <a:xfrm>
            <a:off x="761695" y="714145"/>
            <a:ext cx="5400000" cy="72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i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Pipeline</a:t>
            </a:r>
            <a:r>
              <a:rPr lang="en-US" sz="31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sz="31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Preparação</a:t>
            </a:r>
            <a:endParaRPr lang="en-US" sz="31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 14"/>
          <p:cNvSpPr txBox="1"/>
          <p:nvPr/>
        </p:nvSpPr>
        <p:spPr>
          <a:xfrm>
            <a:off x="857707" y="2238451"/>
            <a:ext cx="181051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01</a:t>
            </a:r>
            <a:endParaRPr lang="en-US" sz="27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Text 15"/>
          <p:cNvSpPr txBox="1"/>
          <p:nvPr/>
        </p:nvSpPr>
        <p:spPr>
          <a:xfrm>
            <a:off x="857707" y="2762402"/>
            <a:ext cx="18105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Tratamento</a:t>
            </a:r>
            <a:r>
              <a:rPr lang="en-US" sz="16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de Valores </a:t>
            </a:r>
            <a:r>
              <a:rPr lang="en-US" sz="16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Omissos</a:t>
            </a:r>
            <a:endParaRPr lang="en-US" sz="1600" b="1">
              <a:solidFill>
                <a:srgbClr val="0E2A47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2" name="Text 16"/>
          <p:cNvSpPr txBox="1"/>
          <p:nvPr/>
        </p:nvSpPr>
        <p:spPr>
          <a:xfrm>
            <a:off x="859353" y="3332257"/>
            <a:ext cx="1824668" cy="1778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Interpolação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interna </a:t>
            </a:r>
            <a:endParaRPr lang="en-US" sz="1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/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 +</a:t>
            </a:r>
            <a:endParaRPr lang="en-US" sz="1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/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sz="1400" i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Auto-ARIMA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</a:t>
            </a:r>
            <a:endParaRPr lang="en-US" sz="1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/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para </a:t>
            </a:r>
            <a:r>
              <a:rPr lang="en-US" sz="1400" i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ragged edges</a:t>
            </a:r>
            <a:r>
              <a:rPr lang="en-US" sz="1000" i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</a:t>
            </a:r>
          </a:p>
          <a:p>
            <a:pPr algn="ctr"/>
            <a:endParaRPr lang="en-US" sz="1000">
              <a:solidFill>
                <a:srgbClr val="555555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3047695" y="2238451"/>
            <a:ext cx="181051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02</a:t>
            </a:r>
            <a:endParaRPr lang="en-US" sz="27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3047695" y="2762402"/>
            <a:ext cx="1810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Estacionarização</a:t>
            </a:r>
            <a:endParaRPr lang="en-US" sz="1600">
              <a:latin typeface="Open Sans"/>
              <a:ea typeface="Open Sans"/>
              <a:cs typeface="Open Sans"/>
            </a:endParaRPr>
          </a:p>
        </p:txBody>
      </p:sp>
      <p:sp>
        <p:nvSpPr>
          <p:cNvPr id="25" name="Text 19"/>
          <p:cNvSpPr txBox="1"/>
          <p:nvPr/>
        </p:nvSpPr>
        <p:spPr>
          <a:xfrm>
            <a:off x="3095244" y="3609324"/>
            <a:ext cx="1714500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Transformações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FRED </a:t>
            </a:r>
            <a:endParaRPr lang="pt-PT"/>
          </a:p>
          <a:p>
            <a:pPr algn="ctr"/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Euro Area</a:t>
            </a:r>
            <a:endParaRPr lang="en-US"/>
          </a:p>
          <a:p>
            <a:pPr marL="0" indent="0" algn="ctr">
              <a:buNone/>
            </a:pPr>
            <a:endParaRPr lang="en-US" sz="1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ctr">
              <a:buNone/>
            </a:pPr>
            <a:r>
              <a:rPr lang="en-US" sz="1400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Validação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KPSS</a:t>
            </a:r>
            <a:endParaRPr lang="en-US" sz="1400">
              <a:latin typeface="Open Sans"/>
              <a:ea typeface="Open Sans"/>
              <a:cs typeface="Open Sans"/>
            </a:endParaRPr>
          </a:p>
        </p:txBody>
      </p:sp>
      <p:sp>
        <p:nvSpPr>
          <p:cNvPr id="26" name="Text 20"/>
          <p:cNvSpPr txBox="1"/>
          <p:nvPr/>
        </p:nvSpPr>
        <p:spPr>
          <a:xfrm>
            <a:off x="5238598" y="2238451"/>
            <a:ext cx="181051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03</a:t>
            </a:r>
            <a:endParaRPr lang="en-US" sz="27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Text 21"/>
          <p:cNvSpPr txBox="1"/>
          <p:nvPr/>
        </p:nvSpPr>
        <p:spPr>
          <a:xfrm>
            <a:off x="5143498" y="2762402"/>
            <a:ext cx="201899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Seleção</a:t>
            </a:r>
            <a:r>
              <a:rPr lang="en-US" sz="16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de </a:t>
            </a:r>
            <a:r>
              <a:rPr lang="en-US" sz="16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Variáveis</a:t>
            </a:r>
            <a:endParaRPr lang="en-US" sz="1600">
              <a:latin typeface="Open Sans"/>
              <a:ea typeface="Open Sans"/>
              <a:cs typeface="Open Sans"/>
            </a:endParaRPr>
          </a:p>
        </p:txBody>
      </p:sp>
      <p:sp>
        <p:nvSpPr>
          <p:cNvPr id="28" name="Text 22"/>
          <p:cNvSpPr txBox="1"/>
          <p:nvPr/>
        </p:nvSpPr>
        <p:spPr>
          <a:xfrm>
            <a:off x="5286146" y="3333902"/>
            <a:ext cx="1714500" cy="139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121 → 21 </a:t>
            </a:r>
          </a:p>
          <a:p>
            <a:pPr marL="0" indent="0" algn="ctr">
              <a:buNone/>
            </a:pPr>
            <a:endParaRPr lang="en-US" sz="1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 13 → </a:t>
            </a:r>
            <a:r>
              <a:rPr lang="en-US" sz="1400" i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Granger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(</a:t>
            </a:r>
            <a:r>
              <a:rPr lang="en-US" sz="1400" i="1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maxlag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=6, p&lt;0,05) </a:t>
            </a:r>
          </a:p>
          <a:p>
            <a:pPr algn="ctr"/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+</a:t>
            </a:r>
            <a:endParaRPr lang="en-US" sz="1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/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 8 → </a:t>
            </a:r>
            <a:r>
              <a:rPr lang="en-US" sz="1400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teóricas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</a:t>
            </a:r>
            <a:endParaRPr lang="en-US" sz="1400">
              <a:ea typeface="Open Sans"/>
              <a:cs typeface="Open Sans"/>
            </a:endParaRPr>
          </a:p>
        </p:txBody>
      </p:sp>
      <p:sp>
        <p:nvSpPr>
          <p:cNvPr id="29" name="Text 23"/>
          <p:cNvSpPr txBox="1"/>
          <p:nvPr/>
        </p:nvSpPr>
        <p:spPr>
          <a:xfrm>
            <a:off x="7429500" y="2238451"/>
            <a:ext cx="181051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04</a:t>
            </a:r>
            <a:endParaRPr lang="en-US" sz="27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0" name="Text 24"/>
          <p:cNvSpPr txBox="1"/>
          <p:nvPr/>
        </p:nvSpPr>
        <p:spPr>
          <a:xfrm>
            <a:off x="7429500" y="2762402"/>
            <a:ext cx="1810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Seleção</a:t>
            </a:r>
            <a:r>
              <a:rPr lang="en-US" sz="16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sz="1600" b="1" i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Lags</a:t>
            </a:r>
            <a:endParaRPr lang="en-US" sz="1600" i="1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1" name="Text 25"/>
          <p:cNvSpPr txBox="1"/>
          <p:nvPr/>
        </p:nvSpPr>
        <p:spPr>
          <a:xfrm>
            <a:off x="7431146" y="3333902"/>
            <a:ext cx="1806306" cy="1477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Apenas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para </a:t>
            </a:r>
            <a:r>
              <a:rPr lang="en-US" sz="1400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modelos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ML</a:t>
            </a:r>
            <a:endParaRPr lang="en-US" sz="1400">
              <a:latin typeface="Open Sans"/>
              <a:ea typeface="Open Sans"/>
              <a:cs typeface="Open Sans"/>
            </a:endParaRPr>
          </a:p>
          <a:p>
            <a:pPr marL="0" indent="0" algn="ctr">
              <a:buNone/>
            </a:pPr>
            <a:endParaRPr lang="en-US" sz="1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LASSO (α=0,1)  </a:t>
            </a:r>
            <a:endParaRPr lang="en-US" sz="1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/>
            <a:r>
              <a:rPr lang="en-US" sz="1400" i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lags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1-12 </a:t>
            </a:r>
            <a:r>
              <a:rPr lang="en-US" sz="1400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por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400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variável</a:t>
            </a:r>
            <a:endParaRPr lang="en-US" sz="1400">
              <a:solidFill>
                <a:srgbClr val="555555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2" name="Text 26"/>
          <p:cNvSpPr txBox="1"/>
          <p:nvPr/>
        </p:nvSpPr>
        <p:spPr>
          <a:xfrm>
            <a:off x="9620402" y="2238451"/>
            <a:ext cx="181051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05</a:t>
            </a:r>
            <a:endParaRPr lang="en-US" sz="27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" name="Text 27"/>
          <p:cNvSpPr txBox="1"/>
          <p:nvPr/>
        </p:nvSpPr>
        <p:spPr>
          <a:xfrm>
            <a:off x="9603687" y="2692296"/>
            <a:ext cx="1967130" cy="457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Tratamento</a:t>
            </a:r>
            <a:r>
              <a:rPr lang="en-US" sz="16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i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Outliers</a:t>
            </a:r>
            <a:endParaRPr lang="en-US" sz="1600" i="1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" name="Text 28"/>
          <p:cNvSpPr txBox="1"/>
          <p:nvPr/>
        </p:nvSpPr>
        <p:spPr>
          <a:xfrm>
            <a:off x="9603687" y="3425709"/>
            <a:ext cx="1962378" cy="1391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Apenas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para </a:t>
            </a:r>
            <a:r>
              <a:rPr lang="en-US" sz="1400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modelos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ML</a:t>
            </a:r>
            <a:endParaRPr lang="en-US" sz="1400">
              <a:latin typeface="Open Sans"/>
              <a:ea typeface="Open Sans"/>
              <a:cs typeface="Open Sans"/>
            </a:endParaRPr>
          </a:p>
          <a:p>
            <a:pPr marL="0" indent="0" algn="ctr">
              <a:buNone/>
            </a:pPr>
            <a:endParaRPr lang="en-US" sz="1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1400" i="1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StandardScaler</a:t>
            </a:r>
            <a:endParaRPr lang="en-US" sz="1400" i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/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+ </a:t>
            </a:r>
          </a:p>
          <a:p>
            <a:pPr marL="0" indent="0" algn="ctr">
              <a:buNone/>
            </a:pPr>
            <a:r>
              <a:rPr lang="en-US" sz="1400" i="1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QuantileTransformer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</a:t>
            </a:r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952805" y="5639105"/>
            <a:ext cx="10383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kern="0" spc="38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Modelos</a:t>
            </a:r>
            <a:r>
              <a:rPr lang="en-US" sz="1600" b="1" kern="0" spc="38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b="1" kern="0" spc="38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Clássicos</a:t>
            </a:r>
            <a:r>
              <a:rPr lang="en-US" sz="1600" b="1" kern="0" spc="38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:</a:t>
            </a:r>
            <a:r>
              <a:rPr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passos</a:t>
            </a:r>
            <a:r>
              <a:rPr lang="en-US" sz="16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 01 </a:t>
            </a:r>
            <a:r>
              <a:rPr lang="pt-PT" sz="16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→</a:t>
            </a:r>
            <a:r>
              <a:rPr lang="en-US" sz="160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 03</a:t>
            </a:r>
            <a:r>
              <a:rPr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. </a:t>
            </a:r>
            <a:r>
              <a:rPr lang="en-US" sz="1600" b="1" kern="0" spc="38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Modelos</a:t>
            </a:r>
            <a:r>
              <a:rPr lang="en-US" sz="1600" b="1" kern="0" spc="38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 ML:</a:t>
            </a:r>
            <a:r>
              <a:rPr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passos</a:t>
            </a:r>
            <a:r>
              <a:rPr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 01, 03, 04 e 05</a:t>
            </a:r>
          </a:p>
        </p:txBody>
      </p:sp>
      <p:pic>
        <p:nvPicPr>
          <p:cNvPr id="37" name="Image 1" descr="gen-dedup-44d113b94a040fa597d5956dbb209098.png">
            <a:extLst>
              <a:ext uri="{FF2B5EF4-FFF2-40B4-BE49-F238E27FC236}">
                <a16:creationId xmlns:a16="http://schemas.microsoft.com/office/drawing/2014/main" id="{435511CE-558F-E4C5-A0E2-DCBAE73E17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39" r="1239"/>
          <a:stretch/>
        </p:blipFill>
        <p:spPr>
          <a:xfrm>
            <a:off x="-2287" y="-10758"/>
            <a:ext cx="1478585" cy="444184"/>
          </a:xfrm>
          <a:prstGeom prst="rect">
            <a:avLst/>
          </a:prstGeom>
        </p:spPr>
      </p:pic>
      <p:sp>
        <p:nvSpPr>
          <p:cNvPr id="38" name="Text 24">
            <a:extLst>
              <a:ext uri="{FF2B5EF4-FFF2-40B4-BE49-F238E27FC236}">
                <a16:creationId xmlns:a16="http://schemas.microsoft.com/office/drawing/2014/main" id="{55CE4D53-3B65-4093-7AF5-F8636B109B01}"/>
              </a:ext>
            </a:extLst>
          </p:cNvPr>
          <p:cNvSpPr txBox="1"/>
          <p:nvPr/>
        </p:nvSpPr>
        <p:spPr>
          <a:xfrm>
            <a:off x="11525098" y="6381598"/>
            <a:ext cx="286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09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D840631D-A090-B188-EDA1-399E96AA5102}"/>
              </a:ext>
            </a:extLst>
          </p:cNvPr>
          <p:cNvSpPr txBox="1"/>
          <p:nvPr/>
        </p:nvSpPr>
        <p:spPr>
          <a:xfrm>
            <a:off x="11157172" y="156667"/>
            <a:ext cx="660197" cy="55321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02</a:t>
            </a:r>
            <a:endParaRPr lang="en-US" sz="3900">
              <a:solidFill>
                <a:srgbClr val="0E2A47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720000" cy="683869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2001500" y="0"/>
            <a:ext cx="190195" cy="6858000"/>
          </a:xfrm>
          <a:prstGeom prst="rect">
            <a:avLst/>
          </a:prstGeom>
          <a:solidFill>
            <a:srgbClr val="0E2A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61695" y="1571854"/>
            <a:ext cx="3258007" cy="1067105"/>
          </a:xfrm>
          <a:prstGeom prst="roundRect">
            <a:avLst>
              <a:gd name="adj" fmla="val 1224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286707" y="1571854"/>
            <a:ext cx="3258007" cy="1067105"/>
          </a:xfrm>
          <a:prstGeom prst="roundRect">
            <a:avLst>
              <a:gd name="adj" fmla="val 1224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810805" y="1571854"/>
            <a:ext cx="3258007" cy="1067105"/>
          </a:xfrm>
          <a:prstGeom prst="roundRect">
            <a:avLst>
              <a:gd name="adj" fmla="val 1224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34153" y="2903403"/>
            <a:ext cx="10427159" cy="879687"/>
          </a:xfrm>
          <a:prstGeom prst="roundRect">
            <a:avLst>
              <a:gd name="adj" fmla="val 30710"/>
            </a:avLst>
          </a:prstGeom>
          <a:solidFill>
            <a:srgbClr val="EDF0F4"/>
          </a:solidFill>
          <a:ln/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1" name="Image 1" descr="gen-dedup-ad5b8692e6d17fba424cfa32ac4f2b85.png"/>
          <p:cNvPicPr>
            <a:picLocks noChangeAspect="1"/>
          </p:cNvPicPr>
          <p:nvPr/>
        </p:nvPicPr>
        <p:blipFill>
          <a:blip r:embed="rId3"/>
          <a:srcRect l="-394" r="-394"/>
          <a:stretch/>
        </p:blipFill>
        <p:spPr>
          <a:xfrm>
            <a:off x="6001207" y="3948056"/>
            <a:ext cx="19202" cy="26673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81598" y="5389016"/>
            <a:ext cx="4667098" cy="1190549"/>
          </a:xfrm>
          <a:prstGeom prst="roundRect">
            <a:avLst>
              <a:gd name="adj" fmla="val 9831"/>
            </a:avLst>
          </a:prstGeom>
          <a:solidFill>
            <a:srgbClr val="0E2A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761695" y="666597"/>
            <a:ext cx="6120000" cy="72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Variáveis</a:t>
            </a:r>
            <a:r>
              <a:rPr lang="en-US" sz="40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40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Selecionadas</a:t>
            </a:r>
            <a:endParaRPr lang="en-US" sz="4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857707" y="1666950"/>
            <a:ext cx="304861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21</a:t>
            </a:r>
            <a:endParaRPr lang="en-US" sz="1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ctr">
              <a:buNone/>
            </a:pPr>
            <a:r>
              <a:rPr lang="en-US" sz="1400" b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Total </a:t>
            </a:r>
            <a:r>
              <a:rPr lang="en-US" sz="1400" b="1" err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Seleccionadas</a:t>
            </a:r>
            <a:endParaRPr lang="en-US" sz="16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4381805" y="1666951"/>
            <a:ext cx="3048610" cy="952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13</a:t>
            </a:r>
            <a:endParaRPr lang="en-US" sz="2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ctr">
              <a:buNone/>
            </a:pPr>
            <a:r>
              <a:rPr lang="en-US" sz="1600" b="1" err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Computacionais</a:t>
            </a:r>
            <a:endParaRPr lang="en-US" sz="1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7905902" y="1666951"/>
            <a:ext cx="3048610" cy="952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8</a:t>
            </a:r>
            <a:endParaRPr lang="en-US" sz="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ctr">
              <a:buNone/>
            </a:pPr>
            <a:r>
              <a:rPr lang="en-US" sz="1600" b="1" err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Teóricas</a:t>
            </a:r>
            <a:endParaRPr lang="en-US" sz="1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978702" y="2978494"/>
            <a:ext cx="10093513" cy="72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Métodos</a:t>
            </a:r>
            <a:r>
              <a:rPr lang="en-US" sz="16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Explorados</a:t>
            </a:r>
            <a:r>
              <a:rPr lang="en-US" sz="16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:</a:t>
            </a:r>
            <a:r>
              <a:rPr lang="en-US" sz="1600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Correlação</a:t>
            </a:r>
            <a:r>
              <a:rPr lang="en-US" sz="1600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de </a:t>
            </a:r>
            <a:r>
              <a:rPr lang="en-US" sz="1600" i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Pearson</a:t>
            </a:r>
            <a:r>
              <a:rPr lang="en-US" sz="1600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· </a:t>
            </a:r>
            <a:r>
              <a:rPr lang="en-US" sz="1600" i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Stepwise</a:t>
            </a:r>
            <a:r>
              <a:rPr lang="en-US" sz="1600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· </a:t>
            </a:r>
            <a:r>
              <a:rPr lang="en-US" sz="1600" i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SelectKBest</a:t>
            </a:r>
            <a:r>
              <a:rPr lang="en-US" sz="1600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</a:t>
            </a:r>
            <a:endParaRPr lang="en-US" sz="16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/>
            <a:endParaRPr lang="en-US" sz="1600">
              <a:solidFill>
                <a:srgbClr val="0E2A47"/>
              </a:solidFill>
              <a:latin typeface="Open Sans"/>
              <a:ea typeface="Open Sans"/>
              <a:cs typeface="Open Sans"/>
            </a:endParaRPr>
          </a:p>
          <a:p>
            <a:pPr marL="0" indent="0" algn="ctr">
              <a:buNone/>
            </a:pPr>
            <a:r>
              <a:rPr lang="en-US" sz="1600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→ </a:t>
            </a:r>
            <a:r>
              <a:rPr lang="en-US" sz="1600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Critério</a:t>
            </a:r>
            <a:r>
              <a:rPr lang="en-US" sz="1600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 final:</a:t>
            </a:r>
            <a:r>
              <a:rPr lang="en-US" sz="1600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Causalidade</a:t>
            </a:r>
            <a:r>
              <a:rPr lang="en-US" sz="1600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de </a:t>
            </a:r>
            <a:r>
              <a:rPr lang="en-US" sz="1600" i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Granger</a:t>
            </a:r>
            <a:r>
              <a:rPr lang="en-US" sz="1600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(</a:t>
            </a:r>
            <a:r>
              <a:rPr lang="en-US" sz="1600" i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maxlag</a:t>
            </a:r>
            <a:r>
              <a:rPr lang="en-US" sz="1600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=6, p&lt;0,05, </a:t>
            </a:r>
            <a:r>
              <a:rPr lang="en-US" sz="1600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séries</a:t>
            </a:r>
            <a:r>
              <a:rPr lang="en-US" sz="1600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estacionarizadas</a:t>
            </a:r>
            <a:r>
              <a:rPr lang="en-US" sz="1600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) </a:t>
            </a:r>
            <a:endParaRPr lang="en-US" sz="1600">
              <a:latin typeface="Open Sans"/>
              <a:ea typeface="Open Sans"/>
              <a:cs typeface="Open Sans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761695" y="3925685"/>
            <a:ext cx="4858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Computacionais</a:t>
            </a:r>
            <a:r>
              <a:rPr lang="en-US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lang="en-US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Causalidade</a:t>
            </a:r>
            <a:r>
              <a:rPr lang="en-US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b="1" i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Granger</a:t>
            </a:r>
            <a:r>
              <a:rPr lang="en-US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6381598" y="3989950"/>
            <a:ext cx="4858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Teóricas</a:t>
            </a:r>
            <a:r>
              <a:rPr lang="en-US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lang="en-US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Domínio</a:t>
            </a:r>
            <a:r>
              <a:rPr lang="en-US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Económico)</a:t>
            </a:r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3" name="Text 58"/>
          <p:cNvSpPr txBox="1"/>
          <p:nvPr/>
        </p:nvSpPr>
        <p:spPr>
          <a:xfrm>
            <a:off x="6620256" y="5531662"/>
            <a:ext cx="4191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38" err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Fundamentos</a:t>
            </a:r>
            <a:r>
              <a:rPr lang="en-US" b="1" kern="0" spc="38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b="1" kern="0" spc="38" err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Teóricos</a:t>
            </a:r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4" name="Text 59"/>
          <p:cNvSpPr txBox="1"/>
          <p:nvPr/>
        </p:nvSpPr>
        <p:spPr>
          <a:xfrm>
            <a:off x="6617656" y="5817028"/>
            <a:ext cx="4000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New Keynesian Phillips Curve</a:t>
            </a:r>
            <a:r>
              <a:rPr lang="en-US" sz="160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(NKPC)</a:t>
            </a:r>
            <a:endParaRPr lang="en-US" sz="16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5" name="Text 60"/>
          <p:cNvSpPr txBox="1"/>
          <p:nvPr/>
        </p:nvSpPr>
        <p:spPr>
          <a:xfrm>
            <a:off x="6617656" y="6091348"/>
            <a:ext cx="4000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Teoria da </a:t>
            </a:r>
            <a:r>
              <a:rPr lang="en-US" sz="1600" err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Competição</a:t>
            </a:r>
            <a:r>
              <a:rPr lang="en-US" sz="160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Imperfeita</a:t>
            </a:r>
            <a:r>
              <a:rPr lang="en-US" sz="160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(ICM)</a:t>
            </a:r>
            <a:endParaRPr lang="en-US" sz="16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7" name="Image 1" descr="gen-dedup-44d113b94a040fa597d5956dbb209098.png">
            <a:extLst>
              <a:ext uri="{FF2B5EF4-FFF2-40B4-BE49-F238E27FC236}">
                <a16:creationId xmlns:a16="http://schemas.microsoft.com/office/drawing/2014/main" id="{FC330A5B-EC2F-759A-5DAB-2078F91216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39" r="1239"/>
          <a:stretch/>
        </p:blipFill>
        <p:spPr>
          <a:xfrm>
            <a:off x="-2287" y="-10758"/>
            <a:ext cx="1478585" cy="444184"/>
          </a:xfrm>
          <a:prstGeom prst="rect">
            <a:avLst/>
          </a:prstGeom>
        </p:spPr>
      </p:pic>
      <p:sp>
        <p:nvSpPr>
          <p:cNvPr id="68" name="Text 24">
            <a:extLst>
              <a:ext uri="{FF2B5EF4-FFF2-40B4-BE49-F238E27FC236}">
                <a16:creationId xmlns:a16="http://schemas.microsoft.com/office/drawing/2014/main" id="{74DE5321-4B05-F2B1-38DE-13052F55328B}"/>
              </a:ext>
            </a:extLst>
          </p:cNvPr>
          <p:cNvSpPr txBox="1"/>
          <p:nvPr/>
        </p:nvSpPr>
        <p:spPr>
          <a:xfrm>
            <a:off x="11525098" y="6381598"/>
            <a:ext cx="286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10</a:t>
            </a:r>
            <a:endParaRPr lang="en-US" sz="1200" b="1">
              <a:solidFill>
                <a:srgbClr val="0E2A47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9" name="Text 41"/>
          <p:cNvSpPr/>
          <p:nvPr/>
        </p:nvSpPr>
        <p:spPr>
          <a:xfrm>
            <a:off x="1562982" y="5494934"/>
            <a:ext cx="835215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marL="0" indent="0" algn="ctr">
              <a:buNone/>
            </a:pP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Text 9">
            <a:extLst>
              <a:ext uri="{FF2B5EF4-FFF2-40B4-BE49-F238E27FC236}">
                <a16:creationId xmlns:a16="http://schemas.microsoft.com/office/drawing/2014/main" id="{A1C573CF-8CD6-429C-FB62-4662562BEC69}"/>
              </a:ext>
            </a:extLst>
          </p:cNvPr>
          <p:cNvSpPr txBox="1"/>
          <p:nvPr/>
        </p:nvSpPr>
        <p:spPr>
          <a:xfrm>
            <a:off x="11168747" y="156667"/>
            <a:ext cx="660197" cy="55321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02</a:t>
            </a:r>
            <a:endParaRPr lang="en-US" sz="3900">
              <a:solidFill>
                <a:srgbClr val="0E2A47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EBC146CC-E811-360F-C5E1-7D4409B8A6AC}"/>
              </a:ext>
            </a:extLst>
          </p:cNvPr>
          <p:cNvSpPr txBox="1"/>
          <p:nvPr/>
        </p:nvSpPr>
        <p:spPr>
          <a:xfrm>
            <a:off x="762249" y="4469710"/>
            <a:ext cx="5142106" cy="88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Proxies 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da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inflação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,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Emprego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na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área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de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entretenimento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e outros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serviços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, Deflator do PIB…</a:t>
            </a:r>
            <a:endParaRPr lang="en-US" sz="1600" i="1">
              <a:latin typeface="Open Sans"/>
              <a:ea typeface="Open Sans"/>
              <a:cs typeface="Open Sans"/>
            </a:endParaRPr>
          </a:p>
        </p:txBody>
      </p:sp>
      <p:sp>
        <p:nvSpPr>
          <p:cNvPr id="71" name="Text 19">
            <a:extLst>
              <a:ext uri="{FF2B5EF4-FFF2-40B4-BE49-F238E27FC236}">
                <a16:creationId xmlns:a16="http://schemas.microsoft.com/office/drawing/2014/main" id="{5B46C8F3-9CA4-70FA-A018-C20369E61EEE}"/>
              </a:ext>
            </a:extLst>
          </p:cNvPr>
          <p:cNvSpPr txBox="1"/>
          <p:nvPr/>
        </p:nvSpPr>
        <p:spPr>
          <a:xfrm>
            <a:off x="6383354" y="4336176"/>
            <a:ext cx="5433845" cy="1057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err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Índice</a:t>
            </a:r>
            <a:r>
              <a:rPr lang="en-US" sz="16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sz="1600" b="1" err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Incerteza</a:t>
            </a:r>
            <a:r>
              <a:rPr lang="en-US" sz="16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Política</a:t>
            </a: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Exportações</a:t>
            </a: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Bens e Serviços, </a:t>
            </a:r>
            <a:r>
              <a:rPr lang="en-US" sz="1600" b="1" err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Indicador</a:t>
            </a:r>
            <a:r>
              <a:rPr lang="en-US" sz="16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sz="1600" b="1" err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Confiança</a:t>
            </a:r>
            <a:r>
              <a:rPr lang="en-US" sz="16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do </a:t>
            </a:r>
            <a:r>
              <a:rPr lang="en-US" sz="1600" b="1" err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Consumidor</a:t>
            </a: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…</a:t>
            </a:r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2001500" y="0"/>
            <a:ext cx="190195" cy="6858000"/>
          </a:xfrm>
          <a:prstGeom prst="rect">
            <a:avLst/>
          </a:prstGeom>
          <a:solidFill>
            <a:srgbClr val="0E2A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1333195" y="5905195"/>
            <a:ext cx="9525305" cy="687558"/>
          </a:xfrm>
          <a:prstGeom prst="roundRect">
            <a:avLst>
              <a:gd name="adj" fmla="val 46065"/>
            </a:avLst>
          </a:prstGeom>
          <a:solidFill>
            <a:srgbClr val="EDF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819456" y="1543720"/>
            <a:ext cx="2520000" cy="457201"/>
          </a:xfrm>
          <a:prstGeom prst="roundRect">
            <a:avLst>
              <a:gd name="adj" fmla="val 239808"/>
            </a:avLst>
          </a:prstGeom>
          <a:solidFill>
            <a:srgbClr val="0E2A4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b="1" err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Modelos</a:t>
            </a:r>
            <a:r>
              <a:rPr lang="en-US" b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b="1" err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Clássicos</a:t>
            </a:r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173846" y="2153170"/>
            <a:ext cx="3653809" cy="1028700"/>
          </a:xfrm>
          <a:prstGeom prst="roundRect">
            <a:avLst>
              <a:gd name="adj" fmla="val 285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173846" y="2153170"/>
            <a:ext cx="45719" cy="1028700"/>
          </a:xfrm>
          <a:prstGeom prst="roundRect">
            <a:avLst>
              <a:gd name="adj" fmla="val 109469"/>
            </a:avLst>
          </a:prstGeom>
          <a:solidFill>
            <a:srgbClr val="0E2A47"/>
          </a:solidFill>
          <a:ln w="12700">
            <a:solidFill>
              <a:srgbClr val="0E2A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630840" y="1542434"/>
            <a:ext cx="2520000" cy="381305"/>
          </a:xfrm>
          <a:prstGeom prst="roundRect">
            <a:avLst>
              <a:gd name="adj" fmla="val 239808"/>
            </a:avLst>
          </a:prstGeom>
          <a:solidFill>
            <a:srgbClr val="0097A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b="1" i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Machine Learning</a:t>
            </a:r>
            <a:endParaRPr lang="en-US" i="1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7979854" y="2150658"/>
            <a:ext cx="3831153" cy="1278262"/>
          </a:xfrm>
          <a:prstGeom prst="roundRect">
            <a:avLst>
              <a:gd name="adj" fmla="val 1224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pt-PT" sz="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7952312" y="2150658"/>
            <a:ext cx="57607" cy="1278262"/>
          </a:xfrm>
          <a:prstGeom prst="roundRect">
            <a:avLst>
              <a:gd name="adj" fmla="val 226758"/>
            </a:avLst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7952312" y="3642526"/>
            <a:ext cx="3877056" cy="1067105"/>
          </a:xfrm>
          <a:prstGeom prst="roundRect">
            <a:avLst>
              <a:gd name="adj" fmla="val 1224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7952312" y="3642526"/>
            <a:ext cx="57607" cy="1067105"/>
          </a:xfrm>
          <a:prstGeom prst="roundRect">
            <a:avLst>
              <a:gd name="adj" fmla="val 226758"/>
            </a:avLst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761695" y="714145"/>
            <a:ext cx="6120000" cy="72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Tratamento</a:t>
            </a:r>
            <a:r>
              <a:rPr lang="en-US" sz="40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dos Dados</a:t>
            </a:r>
            <a:endParaRPr lang="en-US" sz="4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4412505" y="2295815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Estacionarização</a:t>
            </a:r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4412505" y="2638715"/>
            <a:ext cx="33339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Transformações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EA-MD-QD + FRED-MD </a:t>
            </a:r>
            <a:r>
              <a:rPr lang="en-US" sz="1400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aplicadas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400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por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400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fonte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; </a:t>
            </a:r>
            <a:r>
              <a:rPr lang="en-US" sz="1400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Validação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KPSS.</a:t>
            </a:r>
            <a:endParaRPr lang="en-US" sz="1400">
              <a:latin typeface="Open Sans"/>
              <a:ea typeface="Open Sans"/>
              <a:cs typeface="Open Sans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8190971" y="2256582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err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Tratamento</a:t>
            </a:r>
            <a:r>
              <a:rPr lang="en-US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b="1" i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Outliers</a:t>
            </a:r>
            <a:endParaRPr lang="en-US" i="1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8190971" y="2607897"/>
            <a:ext cx="3333902" cy="72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Regra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do IQR</a:t>
            </a:r>
          </a:p>
          <a:p>
            <a:r>
              <a:rPr lang="en-US" sz="1400" i="1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StandardScaler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→ </a:t>
            </a:r>
            <a:r>
              <a:rPr lang="en-US" sz="1400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sem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400" i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outliers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 </a:t>
            </a:r>
            <a:endParaRPr lang="en-US" sz="140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1400" i="1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QuantileTransformer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→ com </a:t>
            </a:r>
            <a:r>
              <a:rPr lang="en-US" sz="1400" i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outliers</a:t>
            </a:r>
            <a:endParaRPr lang="en-US" sz="1400" i="1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8190971" y="3785172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err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Seleção</a:t>
            </a:r>
            <a:r>
              <a:rPr lang="en-US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b="1" i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Lags</a:t>
            </a:r>
            <a:endParaRPr lang="en-US" i="1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Text 22"/>
          <p:cNvSpPr txBox="1"/>
          <p:nvPr/>
        </p:nvSpPr>
        <p:spPr>
          <a:xfrm>
            <a:off x="8190971" y="4090582"/>
            <a:ext cx="33339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LASSO </a:t>
            </a:r>
            <a:r>
              <a:rPr lang="en-US" sz="1400" i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Regression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400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sobre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400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variáveis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400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em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400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nível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· α=0,1 · </a:t>
            </a:r>
            <a:r>
              <a:rPr lang="en-US" sz="1400" i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lags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1-12 → 61 </a:t>
            </a:r>
            <a:r>
              <a:rPr lang="en-US" sz="1400" i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lags</a:t>
            </a:r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.</a:t>
            </a:r>
          </a:p>
        </p:txBody>
      </p:sp>
      <p:sp>
        <p:nvSpPr>
          <p:cNvPr id="28" name="Text 23"/>
          <p:cNvSpPr txBox="1"/>
          <p:nvPr/>
        </p:nvSpPr>
        <p:spPr>
          <a:xfrm>
            <a:off x="1181405" y="6002852"/>
            <a:ext cx="9829800" cy="5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Esta </a:t>
            </a:r>
            <a:r>
              <a:rPr lang="en-US" sz="1600" i="1" err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bifurcação</a:t>
            </a:r>
            <a:r>
              <a:rPr lang="en-US" sz="1600" i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i="1" err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garante</a:t>
            </a:r>
            <a:r>
              <a:rPr lang="en-US" sz="1600" i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que </a:t>
            </a:r>
            <a:r>
              <a:rPr lang="en-US" sz="1600" i="1" err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cada</a:t>
            </a:r>
            <a:r>
              <a:rPr lang="en-US" sz="1600" i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i="1" err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família</a:t>
            </a:r>
            <a:r>
              <a:rPr lang="en-US" sz="1600" i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sz="1600" i="1" err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modelos</a:t>
            </a:r>
            <a:r>
              <a:rPr lang="en-US" sz="1600" i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i="1" err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recebe</a:t>
            </a:r>
            <a:r>
              <a:rPr lang="en-US" sz="1600" i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 </a:t>
            </a:r>
            <a:r>
              <a:rPr lang="en-US" sz="1600" i="1" err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pré-processamento</a:t>
            </a:r>
            <a:r>
              <a:rPr lang="en-US" sz="1600" i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i="1" err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mais</a:t>
            </a:r>
            <a:r>
              <a:rPr lang="en-US" sz="1600" i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i="1" err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adequado</a:t>
            </a:r>
            <a:r>
              <a:rPr lang="en-US" sz="1600" i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à </a:t>
            </a:r>
            <a:r>
              <a:rPr lang="en-US" sz="1600" i="1" err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sua</a:t>
            </a:r>
            <a:r>
              <a:rPr lang="en-US" sz="1600" i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i="1" err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natureza</a:t>
            </a:r>
            <a:r>
              <a:rPr lang="en-US" sz="1600" i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i="1" err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estatística</a:t>
            </a:r>
            <a:r>
              <a:rPr lang="en-US" sz="1600" i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16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0" name="Image 1" descr="gen-dedup-44d113b94a040fa597d5956dbb209098.png">
            <a:extLst>
              <a:ext uri="{FF2B5EF4-FFF2-40B4-BE49-F238E27FC236}">
                <a16:creationId xmlns:a16="http://schemas.microsoft.com/office/drawing/2014/main" id="{A7DB5AF4-1CCD-7803-332A-920BDF74E2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9" r="1239"/>
          <a:stretch/>
        </p:blipFill>
        <p:spPr>
          <a:xfrm>
            <a:off x="-2287" y="-10758"/>
            <a:ext cx="1478585" cy="444184"/>
          </a:xfrm>
          <a:prstGeom prst="rect">
            <a:avLst/>
          </a:prstGeom>
        </p:spPr>
      </p:pic>
      <p:sp>
        <p:nvSpPr>
          <p:cNvPr id="31" name="Text 24">
            <a:extLst>
              <a:ext uri="{FF2B5EF4-FFF2-40B4-BE49-F238E27FC236}">
                <a16:creationId xmlns:a16="http://schemas.microsoft.com/office/drawing/2014/main" id="{C270A4FF-53FC-A72D-E059-74D9732B8C4F}"/>
              </a:ext>
            </a:extLst>
          </p:cNvPr>
          <p:cNvSpPr txBox="1"/>
          <p:nvPr/>
        </p:nvSpPr>
        <p:spPr>
          <a:xfrm>
            <a:off x="11525098" y="6381598"/>
            <a:ext cx="286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11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0D8AA8F6-C742-6481-BF04-CDD3992AA3C9}"/>
              </a:ext>
            </a:extLst>
          </p:cNvPr>
          <p:cNvSpPr txBox="1"/>
          <p:nvPr/>
        </p:nvSpPr>
        <p:spPr>
          <a:xfrm>
            <a:off x="11157172" y="156667"/>
            <a:ext cx="660197" cy="55321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02</a:t>
            </a:r>
            <a:endParaRPr lang="en-US" sz="3900">
              <a:solidFill>
                <a:srgbClr val="0E2A47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9842728C-50FE-301A-6990-FF83358805B7}"/>
              </a:ext>
            </a:extLst>
          </p:cNvPr>
          <p:cNvSpPr/>
          <p:nvPr/>
        </p:nvSpPr>
        <p:spPr>
          <a:xfrm>
            <a:off x="614126" y="1542434"/>
            <a:ext cx="2520000" cy="457201"/>
          </a:xfrm>
          <a:prstGeom prst="roundRect">
            <a:avLst>
              <a:gd name="adj" fmla="val 239808"/>
            </a:avLst>
          </a:prstGeom>
          <a:solidFill>
            <a:srgbClr val="0E2A4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Valores </a:t>
            </a:r>
            <a:r>
              <a:rPr lang="en-US" b="1" err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Omissos</a:t>
            </a:r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B52380A9-3FF3-0B81-4A65-02F305F6FC4A}"/>
              </a:ext>
            </a:extLst>
          </p:cNvPr>
          <p:cNvSpPr/>
          <p:nvPr/>
        </p:nvSpPr>
        <p:spPr>
          <a:xfrm>
            <a:off x="390257" y="2152341"/>
            <a:ext cx="3653809" cy="1028700"/>
          </a:xfrm>
          <a:prstGeom prst="roundRect">
            <a:avLst>
              <a:gd name="adj" fmla="val 285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FB3FACA9-D478-EEFB-9811-754A375CCC28}"/>
              </a:ext>
            </a:extLst>
          </p:cNvPr>
          <p:cNvSpPr/>
          <p:nvPr/>
        </p:nvSpPr>
        <p:spPr>
          <a:xfrm>
            <a:off x="390257" y="2152341"/>
            <a:ext cx="45719" cy="1028700"/>
          </a:xfrm>
          <a:prstGeom prst="roundRect">
            <a:avLst>
              <a:gd name="adj" fmla="val 109469"/>
            </a:avLst>
          </a:prstGeom>
          <a:solidFill>
            <a:srgbClr val="0E2A47"/>
          </a:solidFill>
          <a:ln w="12700">
            <a:solidFill>
              <a:srgbClr val="0E2A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5914903D-1729-1191-1EFE-11BA4E3DB57D}"/>
              </a:ext>
            </a:extLst>
          </p:cNvPr>
          <p:cNvSpPr txBox="1"/>
          <p:nvPr/>
        </p:nvSpPr>
        <p:spPr>
          <a:xfrm>
            <a:off x="628916" y="2294986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Imputação</a:t>
            </a:r>
            <a:r>
              <a:rPr lang="en-US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 ARIMA</a:t>
            </a:r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DB80D68D-2EF1-663E-1FAD-CEBF8DBC0937}"/>
              </a:ext>
            </a:extLst>
          </p:cNvPr>
          <p:cNvSpPr txBox="1"/>
          <p:nvPr/>
        </p:nvSpPr>
        <p:spPr>
          <a:xfrm>
            <a:off x="610555" y="2543153"/>
            <a:ext cx="3352263" cy="596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err="1">
                <a:solidFill>
                  <a:srgbClr val="555555"/>
                </a:solidFill>
                <a:ea typeface="+mn-lt"/>
                <a:cs typeface="+mn-lt"/>
              </a:rPr>
              <a:t>Interpolação</a:t>
            </a:r>
            <a:r>
              <a:rPr lang="en-US" sz="1400">
                <a:solidFill>
                  <a:srgbClr val="5555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555555"/>
                </a:solidFill>
                <a:ea typeface="+mn-lt"/>
                <a:cs typeface="+mn-lt"/>
              </a:rPr>
              <a:t>pelo</a:t>
            </a:r>
            <a:r>
              <a:rPr lang="en-US" sz="1400">
                <a:solidFill>
                  <a:srgbClr val="5555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555555"/>
                </a:solidFill>
                <a:ea typeface="+mn-lt"/>
                <a:cs typeface="+mn-lt"/>
              </a:rPr>
              <a:t>critério</a:t>
            </a:r>
            <a:r>
              <a:rPr lang="en-US" sz="1400">
                <a:solidFill>
                  <a:srgbClr val="555555"/>
                </a:solidFill>
                <a:ea typeface="+mn-lt"/>
                <a:cs typeface="+mn-lt"/>
              </a:rPr>
              <a:t> da </a:t>
            </a:r>
            <a:r>
              <a:rPr lang="en-US" sz="1400" err="1">
                <a:solidFill>
                  <a:srgbClr val="555555"/>
                </a:solidFill>
                <a:ea typeface="+mn-lt"/>
                <a:cs typeface="+mn-lt"/>
              </a:rPr>
              <a:t>menor</a:t>
            </a:r>
            <a:r>
              <a:rPr lang="en-US" sz="1400">
                <a:solidFill>
                  <a:srgbClr val="5555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555555"/>
                </a:solidFill>
                <a:ea typeface="+mn-lt"/>
                <a:cs typeface="+mn-lt"/>
              </a:rPr>
              <a:t>diferença</a:t>
            </a:r>
            <a:r>
              <a:rPr lang="en-US" sz="1400">
                <a:solidFill>
                  <a:srgbClr val="555555"/>
                </a:solidFill>
                <a:ea typeface="+mn-lt"/>
                <a:cs typeface="+mn-lt"/>
              </a:rPr>
              <a:t> entre </a:t>
            </a:r>
            <a:r>
              <a:rPr lang="en-US" sz="1400" err="1">
                <a:solidFill>
                  <a:srgbClr val="555555"/>
                </a:solidFill>
                <a:ea typeface="+mn-lt"/>
                <a:cs typeface="+mn-lt"/>
              </a:rPr>
              <a:t>médias</a:t>
            </a:r>
            <a:r>
              <a:rPr lang="en-US" sz="1400">
                <a:solidFill>
                  <a:srgbClr val="555555"/>
                </a:solidFill>
                <a:ea typeface="+mn-lt"/>
                <a:cs typeface="+mn-lt"/>
              </a:rPr>
              <a:t> + </a:t>
            </a:r>
            <a:r>
              <a:rPr lang="en-US" sz="1400" i="1">
                <a:solidFill>
                  <a:srgbClr val="555555"/>
                </a:solidFill>
                <a:ea typeface="+mn-lt"/>
                <a:cs typeface="+mn-lt"/>
              </a:rPr>
              <a:t>Auto-ARIMA</a:t>
            </a:r>
            <a:r>
              <a:rPr lang="en-US" sz="1400">
                <a:solidFill>
                  <a:srgbClr val="555555"/>
                </a:solidFill>
                <a:ea typeface="+mn-lt"/>
                <a:cs typeface="+mn-lt"/>
              </a:rPr>
              <a:t> para </a:t>
            </a:r>
            <a:r>
              <a:rPr lang="en-US" sz="1400" i="1">
                <a:solidFill>
                  <a:srgbClr val="555555"/>
                </a:solidFill>
                <a:ea typeface="+mn-lt"/>
                <a:cs typeface="+mn-lt"/>
              </a:rPr>
              <a:t>ragged edges.</a:t>
            </a:r>
            <a:endParaRPr lang="pt-PT" i="1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8437F31-8AB4-B29D-9EA7-69314607F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596" y="3329579"/>
            <a:ext cx="4821993" cy="23570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2001500" y="0"/>
            <a:ext cx="190195" cy="6858000"/>
          </a:xfrm>
          <a:prstGeom prst="rect">
            <a:avLst/>
          </a:prstGeom>
          <a:solidFill>
            <a:srgbClr val="0E2A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61695" y="1714500"/>
            <a:ext cx="3258007" cy="4476902"/>
          </a:xfrm>
          <a:prstGeom prst="roundRect">
            <a:avLst>
              <a:gd name="adj" fmla="val 131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61695" y="1714500"/>
            <a:ext cx="3258007" cy="47549"/>
          </a:xfrm>
          <a:prstGeom prst="roundRect">
            <a:avLst>
              <a:gd name="adj" fmla="val 89968"/>
            </a:avLst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286707" y="1714500"/>
            <a:ext cx="3258007" cy="4476902"/>
          </a:xfrm>
          <a:prstGeom prst="roundRect">
            <a:avLst>
              <a:gd name="adj" fmla="val 131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286707" y="1714500"/>
            <a:ext cx="3258007" cy="47549"/>
          </a:xfrm>
          <a:prstGeom prst="roundRect">
            <a:avLst>
              <a:gd name="adj" fmla="val 89968"/>
            </a:avLst>
          </a:prstGeom>
          <a:solidFill>
            <a:srgbClr val="0E2A47"/>
          </a:solidFill>
          <a:ln w="12700">
            <a:solidFill>
              <a:srgbClr val="0E2A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810805" y="1714500"/>
            <a:ext cx="3258007" cy="4476902"/>
          </a:xfrm>
          <a:prstGeom prst="roundRect">
            <a:avLst>
              <a:gd name="adj" fmla="val 131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810805" y="1714500"/>
            <a:ext cx="3258007" cy="47549"/>
          </a:xfrm>
          <a:prstGeom prst="roundRect">
            <a:avLst>
              <a:gd name="adj" fmla="val 89968"/>
            </a:avLst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761695" y="666597"/>
            <a:ext cx="10260000" cy="72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Modelos</a:t>
            </a:r>
            <a:r>
              <a:rPr lang="en-US" sz="40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40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Econométricos</a:t>
            </a:r>
            <a:r>
              <a:rPr lang="en-US" sz="40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40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Tradicionais</a:t>
            </a:r>
            <a:endParaRPr lang="en-US" sz="4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952805" y="1952244"/>
            <a:ext cx="28575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ARIMA(0,1,4)</a:t>
            </a:r>
            <a:endParaRPr lang="en-US" sz="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 13"/>
          <p:cNvSpPr txBox="1"/>
          <p:nvPr/>
        </p:nvSpPr>
        <p:spPr>
          <a:xfrm>
            <a:off x="952805" y="2409444"/>
            <a:ext cx="285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8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Baseline </a:t>
            </a:r>
            <a:r>
              <a:rPr lang="en-US" sz="1600" b="1" kern="0" spc="38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Univariado</a:t>
            </a:r>
            <a:endParaRPr lang="en-US" sz="1600">
              <a:latin typeface="Open Sans"/>
              <a:ea typeface="Open Sans"/>
              <a:cs typeface="Open Sans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1051193" y="2597038"/>
            <a:ext cx="2667305" cy="2918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Grid Search 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(AIC, BIC e 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AICc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)</a:t>
            </a:r>
            <a:endParaRPr lang="pt-PT" sz="16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/>
            <a:endParaRPr lang="en-US" sz="1600">
              <a:solidFill>
                <a:srgbClr val="333333"/>
              </a:solidFill>
              <a:latin typeface="Open Sans"/>
              <a:ea typeface="Open Sans"/>
              <a:cs typeface="Open Sans"/>
            </a:endParaRPr>
          </a:p>
          <a:p>
            <a:pPr algn="ctr"/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Previsão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recursiva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 com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atualização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em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blocos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 </a:t>
            </a:r>
            <a:endParaRPr lang="en-US" sz="16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/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de 4 meses</a:t>
            </a:r>
            <a:endParaRPr lang="en-US" sz="1600">
              <a:ea typeface="Open Sans"/>
              <a:cs typeface="Open Sans"/>
            </a:endParaRPr>
          </a:p>
          <a:p>
            <a:endParaRPr lang="en-US" sz="1600">
              <a:solidFill>
                <a:srgbClr val="33333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2" name="Text 18"/>
          <p:cNvSpPr txBox="1"/>
          <p:nvPr/>
        </p:nvSpPr>
        <p:spPr>
          <a:xfrm>
            <a:off x="4476902" y="1952244"/>
            <a:ext cx="28575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VAR</a:t>
            </a:r>
            <a:endParaRPr lang="en-US" sz="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 19"/>
          <p:cNvSpPr txBox="1"/>
          <p:nvPr/>
        </p:nvSpPr>
        <p:spPr>
          <a:xfrm>
            <a:off x="4476902" y="2409444"/>
            <a:ext cx="285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8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Modelo </a:t>
            </a:r>
            <a:r>
              <a:rPr lang="en-US" sz="1600" b="1" kern="0" spc="38" err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Multivariado</a:t>
            </a:r>
            <a:endParaRPr lang="en-US" sz="1600">
              <a:latin typeface="Open Sans"/>
              <a:ea typeface="Open Sans"/>
              <a:cs typeface="Open Sans"/>
            </a:endParaRPr>
          </a:p>
        </p:txBody>
      </p:sp>
      <p:sp>
        <p:nvSpPr>
          <p:cNvPr id="24" name="Text 20"/>
          <p:cNvSpPr txBox="1"/>
          <p:nvPr/>
        </p:nvSpPr>
        <p:spPr>
          <a:xfrm>
            <a:off x="4475181" y="2788714"/>
            <a:ext cx="2850920" cy="358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3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subconjuntos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de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variáveis</a:t>
            </a:r>
            <a:endParaRPr lang="en-US" sz="1600">
              <a:solidFill>
                <a:srgbClr val="333333"/>
              </a:solidFill>
              <a:latin typeface="Open Sans"/>
              <a:ea typeface="Open Sans"/>
              <a:cs typeface="Open Sans"/>
            </a:endParaRPr>
          </a:p>
          <a:p>
            <a:pPr marL="0" indent="0" algn="ctr">
              <a:buNone/>
            </a:pPr>
            <a:endParaRPr lang="en-US" sz="1600">
              <a:solidFill>
                <a:srgbClr val="333333"/>
              </a:solidFill>
              <a:ea typeface="Open Sans"/>
              <a:cs typeface="Open Sans"/>
            </a:endParaRPr>
          </a:p>
          <a:p>
            <a:pPr algn="ctr"/>
            <a:r>
              <a:rPr lang="en-US" sz="1600" i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Tuning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endParaRPr lang="en-US" sz="16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/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(</a:t>
            </a:r>
            <a:r>
              <a:rPr lang="en-US" sz="1600" i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lags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e 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tendência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) </a:t>
            </a:r>
            <a:endParaRPr lang="en-US" sz="16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/>
            <a:endParaRPr lang="en-US" sz="1600">
              <a:solidFill>
                <a:srgbClr val="333333"/>
              </a:solidFill>
              <a:latin typeface="Open Sans"/>
              <a:ea typeface="Open Sans"/>
              <a:cs typeface="Open Sans"/>
            </a:endParaRPr>
          </a:p>
          <a:p>
            <a:pPr algn="ctr"/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Validação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sz="1600" i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Walk-forward CV </a:t>
            </a:r>
            <a:endParaRPr lang="en-US" sz="1600" i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/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(3 </a:t>
            </a:r>
            <a:r>
              <a:rPr lang="en-US" sz="1600" i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folds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 )</a:t>
            </a:r>
            <a:endParaRPr lang="en-US" sz="16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/>
            <a:endParaRPr lang="en-US" sz="1600">
              <a:solidFill>
                <a:srgbClr val="333333"/>
              </a:solidFill>
              <a:latin typeface="Open Sans"/>
              <a:ea typeface="Open Sans"/>
              <a:cs typeface="Open Sans"/>
            </a:endParaRPr>
          </a:p>
          <a:p>
            <a:pPr algn="ctr"/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Configuração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 final:</a:t>
            </a:r>
            <a:endParaRPr lang="en-US" sz="16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/>
            <a:r>
              <a:rPr lang="en-US" sz="1600" b="1" i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lag = 1</a:t>
            </a:r>
            <a:r>
              <a:rPr lang="en-US" sz="1600" i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e</a:t>
            </a:r>
            <a:r>
              <a:rPr lang="en-US" sz="1600" i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sz="1600" b="1" i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trend= '</a:t>
            </a:r>
            <a:r>
              <a:rPr lang="en-US" sz="1600" b="1" i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ct</a:t>
            </a:r>
            <a:r>
              <a:rPr lang="en-US" sz="1600" b="1" i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'</a:t>
            </a:r>
            <a:r>
              <a:rPr lang="en-US" sz="1600" i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 </a:t>
            </a:r>
            <a:endParaRPr lang="en-US" sz="1600" i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/>
            <a:endParaRPr lang="en-US" sz="1600">
              <a:solidFill>
                <a:srgbClr val="33333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8" name="Text 24"/>
          <p:cNvSpPr txBox="1"/>
          <p:nvPr/>
        </p:nvSpPr>
        <p:spPr>
          <a:xfrm>
            <a:off x="8001000" y="1952244"/>
            <a:ext cx="28575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CC-VAR</a:t>
            </a:r>
            <a:endParaRPr lang="en-US" sz="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" name="Text 25"/>
          <p:cNvSpPr txBox="1"/>
          <p:nvPr/>
        </p:nvSpPr>
        <p:spPr>
          <a:xfrm>
            <a:off x="8001000" y="2409444"/>
            <a:ext cx="2857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kern="0" spc="38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Common Component-</a:t>
            </a:r>
            <a:r>
              <a:rPr lang="en-US" sz="1600" b="1" kern="0" spc="38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VAR</a:t>
            </a:r>
            <a:endParaRPr lang="en-US" sz="1600">
              <a:latin typeface="Open Sans"/>
              <a:ea typeface="Open Sans"/>
              <a:cs typeface="Open Sans"/>
            </a:endParaRPr>
          </a:p>
        </p:txBody>
      </p:sp>
      <p:sp>
        <p:nvSpPr>
          <p:cNvPr id="30" name="Text 26"/>
          <p:cNvSpPr txBox="1"/>
          <p:nvPr/>
        </p:nvSpPr>
        <p:spPr>
          <a:xfrm>
            <a:off x="7970858" y="2918363"/>
            <a:ext cx="2933545" cy="2985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i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Principal Component Analysis:</a:t>
            </a:r>
            <a:endParaRPr lang="pt-PT" sz="1600" i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/>
            <a:endParaRPr lang="en-US" sz="1600" i="1">
              <a:solidFill>
                <a:srgbClr val="333333"/>
              </a:solidFill>
              <a:latin typeface="Open Sans"/>
              <a:ea typeface="Open Sans"/>
              <a:cs typeface="Open Sans"/>
            </a:endParaRPr>
          </a:p>
          <a:p>
            <a:pPr algn="ctr"/>
            <a:r>
              <a:rPr lang="en-US" sz="1600" i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Tuning </a:t>
            </a:r>
            <a:endParaRPr lang="en-US" sz="1600" i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/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(</a:t>
            </a:r>
            <a:r>
              <a:rPr lang="en-US" sz="1600" i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lags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,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tendência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e PC's)</a:t>
            </a:r>
            <a:endParaRPr lang="en-US" sz="1600"/>
          </a:p>
          <a:p>
            <a:pPr algn="ctr"/>
            <a:endParaRPr lang="en-US" sz="1600">
              <a:solidFill>
                <a:srgbClr val="333333"/>
              </a:solidFill>
              <a:latin typeface="Open Sans"/>
              <a:ea typeface="Open Sans"/>
              <a:cs typeface="Open Sans"/>
            </a:endParaRPr>
          </a:p>
          <a:p>
            <a:pPr algn="ctr"/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Configuração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 final:</a:t>
            </a:r>
            <a:endParaRPr lang="en-US" sz="16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/>
            <a:r>
              <a:rPr lang="en-US" sz="1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4 </a:t>
            </a:r>
            <a:r>
              <a:rPr lang="en-US" sz="1600" b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componentes</a:t>
            </a:r>
            <a:r>
              <a:rPr lang="en-US" sz="1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endParaRPr lang="pt-PT" sz="1600" b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/>
            <a:r>
              <a:rPr lang="en-US" sz="1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82% da </a:t>
            </a:r>
            <a:r>
              <a:rPr lang="en-US" sz="1600" b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variância</a:t>
            </a:r>
            <a:r>
              <a:rPr lang="en-US" sz="1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 </a:t>
            </a:r>
            <a:endParaRPr lang="en-US" sz="1600" b="1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ctr"/>
            <a:r>
              <a:rPr lang="en-US" sz="1600" b="1" i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lag = 1 </a:t>
            </a:r>
            <a:r>
              <a:rPr lang="en-US" sz="1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e</a:t>
            </a:r>
            <a:r>
              <a:rPr lang="en-US" sz="1600" b="1" i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 trend= '</a:t>
            </a:r>
            <a:r>
              <a:rPr lang="en-US" sz="1600" b="1" i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ct</a:t>
            </a:r>
            <a:r>
              <a:rPr lang="en-US" sz="1600" b="1" i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'</a:t>
            </a:r>
            <a:endParaRPr lang="en-US" sz="1600" i="1">
              <a:ea typeface="Open Sans"/>
              <a:cs typeface="Open Sans"/>
            </a:endParaRPr>
          </a:p>
        </p:txBody>
      </p:sp>
      <p:pic>
        <p:nvPicPr>
          <p:cNvPr id="36" name="Image 1" descr="gen-dedup-44d113b94a040fa597d5956dbb209098.png">
            <a:extLst>
              <a:ext uri="{FF2B5EF4-FFF2-40B4-BE49-F238E27FC236}">
                <a16:creationId xmlns:a16="http://schemas.microsoft.com/office/drawing/2014/main" id="{428546C3-0EAD-4EA2-FC55-10EC923712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9" r="1239"/>
          <a:stretch/>
        </p:blipFill>
        <p:spPr>
          <a:xfrm>
            <a:off x="-2287" y="-10758"/>
            <a:ext cx="1478585" cy="444184"/>
          </a:xfrm>
          <a:prstGeom prst="rect">
            <a:avLst/>
          </a:prstGeom>
        </p:spPr>
      </p:pic>
      <p:sp>
        <p:nvSpPr>
          <p:cNvPr id="37" name="Text 24">
            <a:extLst>
              <a:ext uri="{FF2B5EF4-FFF2-40B4-BE49-F238E27FC236}">
                <a16:creationId xmlns:a16="http://schemas.microsoft.com/office/drawing/2014/main" id="{2B1B0FBE-D92C-38CD-2C6F-40C262200840}"/>
              </a:ext>
            </a:extLst>
          </p:cNvPr>
          <p:cNvSpPr txBox="1"/>
          <p:nvPr/>
        </p:nvSpPr>
        <p:spPr>
          <a:xfrm>
            <a:off x="11534279" y="6381598"/>
            <a:ext cx="286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12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0C5174B7-4FE5-8714-DA70-BD22247D4A94}"/>
              </a:ext>
            </a:extLst>
          </p:cNvPr>
          <p:cNvSpPr txBox="1"/>
          <p:nvPr/>
        </p:nvSpPr>
        <p:spPr>
          <a:xfrm>
            <a:off x="11157172" y="156667"/>
            <a:ext cx="660197" cy="55321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03</a:t>
            </a:r>
            <a:endParaRPr lang="en-US" sz="3900">
              <a:solidFill>
                <a:srgbClr val="0E2A47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2001500" y="0"/>
            <a:ext cx="190195" cy="6858000"/>
          </a:xfrm>
          <a:prstGeom prst="rect">
            <a:avLst/>
          </a:prstGeom>
          <a:solidFill>
            <a:srgbClr val="0E2A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52268" y="1762048"/>
            <a:ext cx="10260000" cy="771753"/>
          </a:xfrm>
          <a:prstGeom prst="roundRect">
            <a:avLst>
              <a:gd name="adj" fmla="val 15677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61695" y="1762049"/>
            <a:ext cx="45719" cy="758266"/>
          </a:xfrm>
          <a:prstGeom prst="roundRect">
            <a:avLst>
              <a:gd name="adj" fmla="val 219779"/>
            </a:avLst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8" name="Image 1" descr="gen-dedup-f4feeff97e7ef51ecae3722f7142991e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4190695" y="2762402"/>
            <a:ext cx="19202" cy="3619195"/>
          </a:xfrm>
          <a:prstGeom prst="rect">
            <a:avLst/>
          </a:prstGeom>
        </p:spPr>
      </p:pic>
      <p:pic>
        <p:nvPicPr>
          <p:cNvPr id="9" name="Image 2" descr="gen-dedup-f4feeff97e7ef51ecae3722f7142991e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7830007" y="2762402"/>
            <a:ext cx="19202" cy="36191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61695" y="761694"/>
            <a:ext cx="10260000" cy="72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Modelos</a:t>
            </a:r>
            <a:r>
              <a:rPr lang="en-US" sz="40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sz="4000" b="1" i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Machine Learning</a:t>
            </a:r>
            <a:endParaRPr lang="en-US" sz="4000" i="1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1000354" y="1811426"/>
            <a:ext cx="10001707" cy="637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Estratégia</a:t>
            </a:r>
            <a:r>
              <a:rPr lang="en-US" sz="1600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 de </a:t>
            </a:r>
            <a:r>
              <a:rPr lang="en-US" sz="1600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Validação</a:t>
            </a:r>
            <a:r>
              <a:rPr lang="en-US" sz="1600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:</a:t>
            </a:r>
            <a:r>
              <a:rPr lang="en-US" sz="1600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O </a:t>
            </a:r>
            <a:r>
              <a:rPr lang="en-US" sz="1600" i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Ridge</a:t>
            </a:r>
            <a:r>
              <a:rPr lang="en-US" sz="1600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utilizou</a:t>
            </a:r>
            <a:r>
              <a:rPr lang="en-US" sz="1600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i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split</a:t>
            </a:r>
            <a:r>
              <a:rPr lang="en-US" sz="1600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fixo</a:t>
            </a:r>
            <a:r>
              <a:rPr lang="en-US" sz="1600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temporal (80% </a:t>
            </a:r>
            <a:r>
              <a:rPr lang="en-US" sz="1600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treino</a:t>
            </a:r>
            <a:r>
              <a:rPr lang="en-US" sz="1600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/ 20% </a:t>
            </a:r>
            <a:r>
              <a:rPr lang="en-US" sz="1600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validação</a:t>
            </a:r>
            <a:r>
              <a:rPr lang="en-US" sz="1600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) com </a:t>
            </a:r>
            <a:r>
              <a:rPr lang="en-US" sz="1600" i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Optuna</a:t>
            </a:r>
            <a:r>
              <a:rPr lang="en-US" sz="1600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para </a:t>
            </a:r>
            <a:r>
              <a:rPr lang="en-US" sz="1600" i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tuning</a:t>
            </a:r>
            <a:r>
              <a:rPr lang="en-US" sz="1600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do </a:t>
            </a:r>
            <a:r>
              <a:rPr lang="en-US" sz="1600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hiperparâmetro</a:t>
            </a:r>
            <a:r>
              <a:rPr lang="en-US" sz="1600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α, </a:t>
            </a:r>
            <a:r>
              <a:rPr lang="en-US" sz="1600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minimizando</a:t>
            </a:r>
            <a:r>
              <a:rPr lang="en-US" sz="1600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o WAPE no conjunto de </a:t>
            </a:r>
            <a:r>
              <a:rPr lang="en-US" sz="1600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validação</a:t>
            </a:r>
            <a:r>
              <a:rPr lang="en-US" sz="1600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. </a:t>
            </a:r>
          </a:p>
        </p:txBody>
      </p:sp>
      <p:sp>
        <p:nvSpPr>
          <p:cNvPr id="13" name="Text 7"/>
          <p:cNvSpPr txBox="1"/>
          <p:nvPr/>
        </p:nvSpPr>
        <p:spPr>
          <a:xfrm>
            <a:off x="761695" y="2762402"/>
            <a:ext cx="342104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Ridge Regression </a:t>
            </a:r>
            <a:r>
              <a:rPr lang="en-US" sz="28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★</a:t>
            </a:r>
            <a:endParaRPr lang="en-US" sz="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 8"/>
          <p:cNvSpPr txBox="1"/>
          <p:nvPr/>
        </p:nvSpPr>
        <p:spPr>
          <a:xfrm>
            <a:off x="951890" y="3278884"/>
            <a:ext cx="3048610" cy="491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O </a:t>
            </a:r>
            <a:r>
              <a:rPr lang="en-US" sz="1600" b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modelo</a:t>
            </a:r>
            <a:r>
              <a:rPr lang="en-US" sz="1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com </a:t>
            </a:r>
            <a:r>
              <a:rPr lang="en-US" sz="1600" b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melhor</a:t>
            </a:r>
            <a:r>
              <a:rPr lang="en-US" sz="1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b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desempenho</a:t>
            </a:r>
            <a:r>
              <a:rPr lang="en-US" sz="1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b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preditivo</a:t>
            </a:r>
            <a:r>
              <a:rPr lang="en-US" sz="1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.</a:t>
            </a:r>
            <a:endParaRPr lang="en-US" sz="1600">
              <a:latin typeface="Open Sans"/>
              <a:ea typeface="Open Sans"/>
              <a:cs typeface="Open Sans"/>
            </a:endParaRPr>
          </a:p>
        </p:txBody>
      </p:sp>
      <p:sp>
        <p:nvSpPr>
          <p:cNvPr id="18" name="Text 12"/>
          <p:cNvSpPr txBox="1"/>
          <p:nvPr/>
        </p:nvSpPr>
        <p:spPr>
          <a:xfrm>
            <a:off x="4401007" y="2762402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Random Forest</a:t>
            </a:r>
            <a:endParaRPr lang="en-US" sz="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 13"/>
          <p:cNvSpPr txBox="1"/>
          <p:nvPr/>
        </p:nvSpPr>
        <p:spPr>
          <a:xfrm>
            <a:off x="8137134" y="3320087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Ensemble </a:t>
            </a:r>
            <a:r>
              <a:rPr lang="en-US" sz="1600" b="1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baseado</a:t>
            </a:r>
            <a:r>
              <a:rPr lang="en-US" sz="1600" b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em </a:t>
            </a:r>
            <a:r>
              <a:rPr lang="en-US" sz="1600" b="1" i="1">
                <a:solidFill>
                  <a:srgbClr val="0E2A47"/>
                </a:solidFill>
                <a:ea typeface="Open Sans"/>
                <a:cs typeface="Open Sans"/>
              </a:rPr>
              <a:t>Boosting</a:t>
            </a:r>
            <a:r>
              <a:rPr lang="en-US" sz="1600" b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16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8039405" y="2762402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LightGBM</a:t>
            </a:r>
            <a:endParaRPr lang="en-US" sz="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4447239" y="3434432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Modelo </a:t>
            </a:r>
            <a:r>
              <a:rPr lang="en-US" sz="1600" b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baseado</a:t>
            </a:r>
            <a:r>
              <a:rPr lang="en-US" sz="1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b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em</a:t>
            </a:r>
            <a:r>
              <a:rPr lang="en-US" sz="1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b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árvores</a:t>
            </a:r>
            <a:r>
              <a:rPr lang="en-US" sz="1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de </a:t>
            </a:r>
            <a:r>
              <a:rPr lang="en-US" sz="1600" b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decisão</a:t>
            </a:r>
            <a:r>
              <a:rPr lang="en-US" sz="1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.</a:t>
            </a:r>
            <a:endParaRPr lang="en-US" sz="1600">
              <a:latin typeface="Open Sans"/>
              <a:ea typeface="Open Sans"/>
              <a:cs typeface="Open Sans"/>
            </a:endParaRPr>
          </a:p>
        </p:txBody>
      </p:sp>
      <p:pic>
        <p:nvPicPr>
          <p:cNvPr id="29" name="Image 1" descr="gen-dedup-44d113b94a040fa597d5956dbb209098.png">
            <a:extLst>
              <a:ext uri="{FF2B5EF4-FFF2-40B4-BE49-F238E27FC236}">
                <a16:creationId xmlns:a16="http://schemas.microsoft.com/office/drawing/2014/main" id="{85896846-B41A-7469-43F5-9DD4673B3D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39" r="1239"/>
          <a:stretch/>
        </p:blipFill>
        <p:spPr>
          <a:xfrm>
            <a:off x="-2287" y="-10758"/>
            <a:ext cx="1478585" cy="444184"/>
          </a:xfrm>
          <a:prstGeom prst="rect">
            <a:avLst/>
          </a:prstGeom>
        </p:spPr>
      </p:pic>
      <p:sp>
        <p:nvSpPr>
          <p:cNvPr id="30" name="Text 24">
            <a:extLst>
              <a:ext uri="{FF2B5EF4-FFF2-40B4-BE49-F238E27FC236}">
                <a16:creationId xmlns:a16="http://schemas.microsoft.com/office/drawing/2014/main" id="{2B84C862-EF19-D964-EE4A-55BEEF39912F}"/>
              </a:ext>
            </a:extLst>
          </p:cNvPr>
          <p:cNvSpPr txBox="1"/>
          <p:nvPr/>
        </p:nvSpPr>
        <p:spPr>
          <a:xfrm>
            <a:off x="11525098" y="6381598"/>
            <a:ext cx="286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13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34C340C-500C-83B6-F359-4E8F067AC58B}"/>
              </a:ext>
            </a:extLst>
          </p:cNvPr>
          <p:cNvSpPr txBox="1"/>
          <p:nvPr/>
        </p:nvSpPr>
        <p:spPr>
          <a:xfrm>
            <a:off x="11157172" y="156667"/>
            <a:ext cx="660197" cy="55321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03</a:t>
            </a:r>
            <a:endParaRPr lang="en-US" sz="3900">
              <a:solidFill>
                <a:srgbClr val="0E2A47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E4B9E4DB-FD6D-B7A1-7697-DD94D1BDA3D8}"/>
              </a:ext>
            </a:extLst>
          </p:cNvPr>
          <p:cNvSpPr txBox="1"/>
          <p:nvPr/>
        </p:nvSpPr>
        <p:spPr>
          <a:xfrm>
            <a:off x="878444" y="4169988"/>
            <a:ext cx="3342393" cy="1627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/>
              <a:buChar char="•"/>
            </a:pPr>
            <a:r>
              <a:rPr lang="en-US" sz="14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Regressão</a:t>
            </a:r>
            <a:r>
              <a:rPr lang="en-US" sz="14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regularizada</a:t>
            </a:r>
            <a:r>
              <a:rPr lang="en-US" sz="14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(L2)</a:t>
            </a:r>
            <a:endParaRPr lang="pt-PT"/>
          </a:p>
          <a:p>
            <a:endParaRPr lang="en-US" sz="1400" b="1">
              <a:solidFill>
                <a:srgbClr val="0E2A47"/>
              </a:solidFill>
              <a:ea typeface="Open Sans"/>
              <a:cs typeface="Open Sans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err="1">
                <a:solidFill>
                  <a:srgbClr val="0E2A47"/>
                </a:solidFill>
                <a:ea typeface="Open Sans"/>
                <a:cs typeface="Open Sans"/>
              </a:rPr>
              <a:t>Estável</a:t>
            </a:r>
            <a:r>
              <a:rPr lang="en-US" sz="1400" b="1">
                <a:solidFill>
                  <a:srgbClr val="0E2A47"/>
                </a:solidFill>
                <a:ea typeface="Open Sans"/>
                <a:cs typeface="Open Sans"/>
              </a:rPr>
              <a:t> com </a:t>
            </a:r>
            <a:r>
              <a:rPr lang="en-US" sz="1400" b="1" err="1">
                <a:solidFill>
                  <a:srgbClr val="0E2A47"/>
                </a:solidFill>
                <a:ea typeface="Open Sans"/>
                <a:cs typeface="Open Sans"/>
              </a:rPr>
              <a:t>multicolinearidade</a:t>
            </a:r>
            <a:endParaRPr lang="en-US" sz="1400" b="1">
              <a:solidFill>
                <a:srgbClr val="0E2A47"/>
              </a:solidFill>
              <a:ea typeface="Open Sans"/>
              <a:cs typeface="Open Sans"/>
            </a:endParaRPr>
          </a:p>
          <a:p>
            <a:endParaRPr lang="en-US" sz="1400" b="1">
              <a:solidFill>
                <a:srgbClr val="0E2A47"/>
              </a:solidFill>
              <a:ea typeface="Open Sans"/>
              <a:cs typeface="Open Sans"/>
            </a:endParaRPr>
          </a:p>
          <a:p>
            <a:endParaRPr lang="en-US" sz="1400" b="1">
              <a:solidFill>
                <a:srgbClr val="0E2A47"/>
              </a:solidFill>
              <a:ea typeface="Open Sans"/>
              <a:cs typeface="Open Sans"/>
            </a:endParaRPr>
          </a:p>
          <a:p>
            <a:r>
              <a:rPr lang="en-US" sz="1400" b="1">
                <a:solidFill>
                  <a:srgbClr val="0E2A47"/>
                </a:solidFill>
                <a:ea typeface="Open Sans"/>
                <a:cs typeface="Open Sans"/>
              </a:rPr>
              <a:t>14 </a:t>
            </a:r>
            <a:r>
              <a:rPr lang="en-US" sz="1400" b="1" i="1">
                <a:solidFill>
                  <a:srgbClr val="0E2A47"/>
                </a:solidFill>
                <a:ea typeface="Open Sans"/>
                <a:cs typeface="Open Sans"/>
              </a:rPr>
              <a:t>features</a:t>
            </a:r>
            <a:r>
              <a:rPr lang="en-US" sz="1400" b="1">
                <a:solidFill>
                  <a:srgbClr val="0E2A47"/>
                </a:solidFill>
                <a:ea typeface="Open Sans"/>
                <a:cs typeface="Open Sans"/>
              </a:rPr>
              <a:t> (</a:t>
            </a:r>
            <a:r>
              <a:rPr lang="en-US" sz="1400" b="1" i="1">
                <a:solidFill>
                  <a:srgbClr val="0E2A47"/>
                </a:solidFill>
                <a:ea typeface="Open Sans"/>
                <a:cs typeface="Open Sans"/>
              </a:rPr>
              <a:t>feature importance</a:t>
            </a:r>
            <a:r>
              <a:rPr lang="en-US" sz="1400" b="1">
                <a:solidFill>
                  <a:srgbClr val="0E2A47"/>
                </a:solidFill>
                <a:ea typeface="Open Sans"/>
                <a:cs typeface="Open Sans"/>
              </a:rPr>
              <a:t>)</a:t>
            </a:r>
            <a:endParaRPr lang="en-US" sz="1400">
              <a:solidFill>
                <a:srgbClr val="000000"/>
              </a:solidFill>
              <a:ea typeface="Open Sans"/>
              <a:cs typeface="Open Sans"/>
            </a:endParaRPr>
          </a:p>
          <a:p>
            <a:endParaRPr lang="en-US" sz="1400" b="1">
              <a:solidFill>
                <a:srgbClr val="0E2A47"/>
              </a:solidFill>
              <a:ea typeface="Open Sans"/>
              <a:cs typeface="Open Sans"/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E01C30A6-05C0-237D-1770-0A6B40AA632F}"/>
              </a:ext>
            </a:extLst>
          </p:cNvPr>
          <p:cNvSpPr txBox="1"/>
          <p:nvPr/>
        </p:nvSpPr>
        <p:spPr>
          <a:xfrm>
            <a:off x="4403841" y="4169988"/>
            <a:ext cx="3342393" cy="1627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/>
              <a:buChar char="•"/>
            </a:pPr>
            <a:r>
              <a:rPr lang="en-US" sz="1400" b="1">
                <a:solidFill>
                  <a:srgbClr val="0E2A47"/>
                </a:solidFill>
                <a:ea typeface="Open Sans"/>
                <a:cs typeface="Open Sans"/>
              </a:rPr>
              <a:t>Robusto a </a:t>
            </a:r>
            <a:r>
              <a:rPr lang="en-US" sz="1400" b="1" i="1">
                <a:solidFill>
                  <a:srgbClr val="0E2A47"/>
                </a:solidFill>
                <a:ea typeface="Open Sans"/>
                <a:cs typeface="Open Sans"/>
              </a:rPr>
              <a:t>Outliers</a:t>
            </a:r>
          </a:p>
          <a:p>
            <a:endParaRPr lang="en-US" sz="1400" b="1">
              <a:solidFill>
                <a:srgbClr val="0E2A47"/>
              </a:solidFill>
              <a:ea typeface="Open Sans"/>
              <a:cs typeface="Open Sans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err="1">
                <a:solidFill>
                  <a:srgbClr val="0E2A47"/>
                </a:solidFill>
                <a:ea typeface="Open Sans"/>
                <a:cs typeface="Open Sans"/>
              </a:rPr>
              <a:t>Captura</a:t>
            </a:r>
            <a:r>
              <a:rPr lang="en-US" sz="1400" b="1">
                <a:solidFill>
                  <a:srgbClr val="0E2A47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E2A47"/>
                </a:solidFill>
                <a:ea typeface="Open Sans"/>
                <a:cs typeface="Open Sans"/>
              </a:rPr>
              <a:t>não-linearidades</a:t>
            </a:r>
            <a:endParaRPr lang="en-US" sz="1400" b="1">
              <a:solidFill>
                <a:srgbClr val="0E2A47"/>
              </a:solidFill>
              <a:ea typeface="Open Sans"/>
              <a:cs typeface="Open Sans"/>
            </a:endParaRPr>
          </a:p>
          <a:p>
            <a:endParaRPr lang="en-US" sz="1400" b="1">
              <a:solidFill>
                <a:srgbClr val="0E2A47"/>
              </a:solidFill>
              <a:ea typeface="Open Sans"/>
              <a:cs typeface="Open Sans"/>
            </a:endParaRPr>
          </a:p>
          <a:p>
            <a:endParaRPr lang="en-US" sz="1400" b="1">
              <a:solidFill>
                <a:srgbClr val="0E2A47"/>
              </a:solidFill>
              <a:ea typeface="Open Sans"/>
              <a:cs typeface="Open Sans"/>
            </a:endParaRPr>
          </a:p>
          <a:p>
            <a:r>
              <a:rPr lang="en-US" sz="1400" b="1" err="1">
                <a:solidFill>
                  <a:srgbClr val="0E2A47"/>
                </a:solidFill>
                <a:ea typeface="Open Sans"/>
                <a:cs typeface="Open Sans"/>
              </a:rPr>
              <a:t>Avaliado</a:t>
            </a:r>
            <a:r>
              <a:rPr lang="en-US" sz="1400" b="1">
                <a:solidFill>
                  <a:srgbClr val="0E2A47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E2A47"/>
                </a:solidFill>
                <a:ea typeface="Open Sans"/>
                <a:cs typeface="Open Sans"/>
              </a:rPr>
              <a:t>por</a:t>
            </a:r>
            <a:r>
              <a:rPr lang="en-US" sz="1400" b="1">
                <a:solidFill>
                  <a:srgbClr val="0E2A47"/>
                </a:solidFill>
                <a:ea typeface="Open Sans"/>
                <a:cs typeface="Open Sans"/>
              </a:rPr>
              <a:t>: </a:t>
            </a:r>
            <a:r>
              <a:rPr lang="en-US" sz="1400" b="1" i="1">
                <a:solidFill>
                  <a:srgbClr val="0E2A47"/>
                </a:solidFill>
                <a:ea typeface="Open Sans"/>
                <a:cs typeface="Open Sans"/>
              </a:rPr>
              <a:t>Mean Square Error </a:t>
            </a:r>
            <a:r>
              <a:rPr lang="en-US" sz="1400" b="1">
                <a:solidFill>
                  <a:srgbClr val="0E2A47"/>
                </a:solidFill>
                <a:ea typeface="Open Sans"/>
                <a:cs typeface="Open Sans"/>
              </a:rPr>
              <a:t>(MSE) e </a:t>
            </a:r>
            <a:r>
              <a:rPr lang="en-US" sz="1400" b="1" i="1">
                <a:solidFill>
                  <a:srgbClr val="0E2A47"/>
                </a:solidFill>
                <a:ea typeface="Open Sans"/>
                <a:cs typeface="Open Sans"/>
              </a:rPr>
              <a:t>Mean Absolute Error </a:t>
            </a:r>
            <a:r>
              <a:rPr lang="en-US" sz="1400" b="1">
                <a:solidFill>
                  <a:srgbClr val="0E2A47"/>
                </a:solidFill>
                <a:ea typeface="Open Sans"/>
                <a:cs typeface="Open Sans"/>
              </a:rPr>
              <a:t>(MAE)</a:t>
            </a:r>
            <a:endParaRPr lang="en-US"/>
          </a:p>
          <a:p>
            <a:endParaRPr lang="en-US" sz="1400" b="1">
              <a:solidFill>
                <a:srgbClr val="0E2A47"/>
              </a:solidFill>
              <a:ea typeface="Open Sans"/>
              <a:cs typeface="Open Sans"/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FBA7D083-3E14-ECB2-70C5-23F1923914FC}"/>
              </a:ext>
            </a:extLst>
          </p:cNvPr>
          <p:cNvSpPr txBox="1"/>
          <p:nvPr/>
        </p:nvSpPr>
        <p:spPr>
          <a:xfrm>
            <a:off x="8140395" y="4399506"/>
            <a:ext cx="3351573" cy="1985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/>
              <a:buChar char="•"/>
            </a:pPr>
            <a:r>
              <a:rPr lang="en-US" sz="1400" b="1" i="1">
                <a:solidFill>
                  <a:srgbClr val="0E2A47"/>
                </a:solidFill>
                <a:ea typeface="Open Sans"/>
                <a:cs typeface="Open Sans"/>
              </a:rPr>
              <a:t>Gradient Boosting</a:t>
            </a:r>
            <a:endParaRPr lang="pt-PT" i="1"/>
          </a:p>
          <a:p>
            <a:endParaRPr lang="en-US" sz="1400" b="1">
              <a:solidFill>
                <a:srgbClr val="0E2A47"/>
              </a:solidFill>
              <a:ea typeface="Open Sans"/>
              <a:cs typeface="Open Sans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>
                <a:solidFill>
                  <a:srgbClr val="0E2A47"/>
                </a:solidFill>
                <a:ea typeface="Open Sans"/>
                <a:cs typeface="Open Sans"/>
              </a:rPr>
              <a:t>Treina </a:t>
            </a:r>
            <a:r>
              <a:rPr lang="en-US" sz="1400" b="1" err="1">
                <a:solidFill>
                  <a:srgbClr val="0E2A47"/>
                </a:solidFill>
                <a:ea typeface="Open Sans"/>
                <a:cs typeface="Open Sans"/>
              </a:rPr>
              <a:t>árvores</a:t>
            </a:r>
            <a:r>
              <a:rPr lang="en-US" sz="1400" b="1">
                <a:solidFill>
                  <a:srgbClr val="0E2A47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E2A47"/>
                </a:solidFill>
                <a:ea typeface="Open Sans"/>
                <a:cs typeface="Open Sans"/>
              </a:rPr>
              <a:t>sequencialmente</a:t>
            </a:r>
            <a:r>
              <a:rPr lang="en-US" sz="1400" b="1">
                <a:solidFill>
                  <a:srgbClr val="0E2A47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E2A47"/>
                </a:solidFill>
                <a:ea typeface="Open Sans"/>
                <a:cs typeface="Open Sans"/>
              </a:rPr>
              <a:t>corrigindo</a:t>
            </a:r>
            <a:r>
              <a:rPr lang="en-US" sz="1400" b="1">
                <a:solidFill>
                  <a:srgbClr val="0E2A47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E2A47"/>
                </a:solidFill>
                <a:ea typeface="Open Sans"/>
                <a:cs typeface="Open Sans"/>
              </a:rPr>
              <a:t>os</a:t>
            </a:r>
            <a:r>
              <a:rPr lang="en-US" sz="1400" b="1">
                <a:solidFill>
                  <a:srgbClr val="0E2A47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E2A47"/>
                </a:solidFill>
                <a:ea typeface="Open Sans"/>
                <a:cs typeface="Open Sans"/>
              </a:rPr>
              <a:t>erros</a:t>
            </a:r>
            <a:r>
              <a:rPr lang="en-US" sz="1400" b="1">
                <a:solidFill>
                  <a:srgbClr val="0E2A47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E2A47"/>
                </a:solidFill>
                <a:ea typeface="Open Sans"/>
                <a:cs typeface="Open Sans"/>
              </a:rPr>
              <a:t>anteriores</a:t>
            </a:r>
            <a:endParaRPr lang="en-US" sz="1400" b="1">
              <a:solidFill>
                <a:srgbClr val="0E2A47"/>
              </a:solidFill>
              <a:ea typeface="Open Sans"/>
              <a:cs typeface="Open Sans"/>
            </a:endParaRPr>
          </a:p>
          <a:p>
            <a:pPr marL="285750" indent="-285750">
              <a:buFont typeface="Arial"/>
              <a:buChar char="•"/>
            </a:pPr>
            <a:endParaRPr lang="en-US" sz="1400" b="1">
              <a:solidFill>
                <a:srgbClr val="0E2A47"/>
              </a:solidFill>
              <a:ea typeface="Open Sans"/>
              <a:cs typeface="Open Sans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err="1">
                <a:solidFill>
                  <a:srgbClr val="0E2A47"/>
                </a:solidFill>
                <a:ea typeface="Open Sans"/>
                <a:cs typeface="Open Sans"/>
              </a:rPr>
              <a:t>Eficiente</a:t>
            </a:r>
            <a:r>
              <a:rPr lang="en-US" sz="1400" b="1">
                <a:solidFill>
                  <a:srgbClr val="0E2A47"/>
                </a:solidFill>
                <a:ea typeface="Open Sans"/>
                <a:cs typeface="Open Sans"/>
              </a:rPr>
              <a:t> em dados em </a:t>
            </a:r>
            <a:r>
              <a:rPr lang="en-US" sz="1400" b="1" err="1">
                <a:solidFill>
                  <a:srgbClr val="0E2A47"/>
                </a:solidFill>
                <a:ea typeface="Open Sans"/>
                <a:cs typeface="Open Sans"/>
              </a:rPr>
              <a:t>tabelas</a:t>
            </a:r>
            <a:endParaRPr lang="en-US" sz="1400" b="1">
              <a:solidFill>
                <a:srgbClr val="0E2A47"/>
              </a:solidFill>
              <a:ea typeface="Open Sans"/>
              <a:cs typeface="Open Sans"/>
            </a:endParaRPr>
          </a:p>
          <a:p>
            <a:pPr marL="285750" indent="-285750">
              <a:buFont typeface="Arial"/>
              <a:buChar char="•"/>
            </a:pPr>
            <a:endParaRPr lang="en-US" sz="1400" b="1">
              <a:solidFill>
                <a:srgbClr val="0E2A47"/>
              </a:solidFill>
              <a:ea typeface="Open Sans"/>
              <a:cs typeface="Open Sans"/>
            </a:endParaRPr>
          </a:p>
          <a:p>
            <a:endParaRPr lang="en-US" sz="1400" b="1">
              <a:solidFill>
                <a:srgbClr val="0E2A47"/>
              </a:solidFill>
              <a:ea typeface="Open Sans"/>
              <a:cs typeface="Open Sans"/>
            </a:endParaRPr>
          </a:p>
          <a:p>
            <a:endParaRPr lang="en-US" sz="1400" b="1">
              <a:solidFill>
                <a:srgbClr val="0E2A47"/>
              </a:solidFill>
              <a:ea typeface="Open Sans"/>
              <a:cs typeface="Open Sans"/>
            </a:endParaRPr>
          </a:p>
          <a:p>
            <a:endParaRPr lang="en-US" sz="1400" b="1">
              <a:solidFill>
                <a:srgbClr val="0E2A47"/>
              </a:solidFill>
              <a:ea typeface="Open Sans"/>
              <a:cs typeface="Open Sans"/>
            </a:endParaRPr>
          </a:p>
          <a:p>
            <a:endParaRPr lang="en-US" sz="1400" b="1">
              <a:solidFill>
                <a:srgbClr val="0E2A47"/>
              </a:solidFill>
              <a:ea typeface="Open Sans"/>
              <a:cs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 sz="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F910A01-9BE8-7B17-3E0C-F32087393E5E}"/>
              </a:ext>
            </a:extLst>
          </p:cNvPr>
          <p:cNvSpPr/>
          <p:nvPr/>
        </p:nvSpPr>
        <p:spPr>
          <a:xfrm>
            <a:off x="6274332" y="4163735"/>
            <a:ext cx="3973799" cy="2562609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2001500" y="0"/>
            <a:ext cx="190195" cy="6858000"/>
          </a:xfrm>
          <a:prstGeom prst="rect">
            <a:avLst/>
          </a:prstGeom>
          <a:solidFill>
            <a:srgbClr val="0E2A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5429707" y="794410"/>
            <a:ext cx="6305702" cy="3306247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 5"/>
          <p:cNvSpPr txBox="1"/>
          <p:nvPr/>
        </p:nvSpPr>
        <p:spPr>
          <a:xfrm>
            <a:off x="734153" y="703319"/>
            <a:ext cx="4183662" cy="101378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Resultados</a:t>
            </a:r>
            <a:endParaRPr lang="en-US" sz="4000" b="1">
              <a:solidFill>
                <a:srgbClr val="0E2A47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2000" b="1">
                <a:solidFill>
                  <a:schemeClr val="accent1">
                    <a:lumMod val="49000"/>
                  </a:schemeClr>
                </a:solidFill>
                <a:latin typeface="Open Sans"/>
                <a:ea typeface="Open Sans"/>
                <a:cs typeface="Open Sans"/>
              </a:rPr>
              <a:t>Comparação de Modelos</a:t>
            </a:r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077552"/>
              </p:ext>
            </p:extLst>
          </p:nvPr>
        </p:nvGraphicFramePr>
        <p:xfrm>
          <a:off x="589345" y="1848002"/>
          <a:ext cx="4726063" cy="1971444"/>
        </p:xfrm>
        <a:graphic>
          <a:graphicData uri="http://schemas.openxmlformats.org/drawingml/2006/table">
            <a:tbl>
              <a:tblPr/>
              <a:tblGrid>
                <a:gridCol w="1528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89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Modelo</a:t>
                      </a:r>
                      <a:endParaRPr lang="en-US" sz="1400" dirty="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RMSE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MAE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Rel. RMSE*</a:t>
                      </a:r>
                      <a:endParaRPr lang="en-US" sz="1400" dirty="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Rel. MAE*</a:t>
                      </a:r>
                      <a:endParaRPr lang="en-US" sz="1400" dirty="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Times New Roman"/>
                          <a:ea typeface="Open Sans"/>
                          <a:cs typeface="Times New Roman"/>
                        </a:rPr>
                        <a:t>Naïve (</a:t>
                      </a:r>
                      <a:r>
                        <a:rPr lang="en-US" sz="1400" dirty="0" err="1">
                          <a:solidFill>
                            <a:srgbClr val="555555"/>
                          </a:solidFill>
                          <a:latin typeface="Times New Roman"/>
                          <a:ea typeface="Open Sans"/>
                          <a:cs typeface="Times New Roman"/>
                        </a:rPr>
                        <a:t>média</a:t>
                      </a:r>
                      <a:r>
                        <a:rPr lang="en-US" sz="1400" dirty="0">
                          <a:solidFill>
                            <a:srgbClr val="555555"/>
                          </a:solidFill>
                          <a:latin typeface="Times New Roman"/>
                          <a:ea typeface="Open Sans"/>
                          <a:cs typeface="Times New Roman"/>
                        </a:rPr>
                        <a:t>)</a:t>
                      </a:r>
                      <a:endParaRPr lang="en-US" sz="1400" dirty="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0,61</a:t>
                      </a:r>
                      <a:endParaRPr lang="en-US" sz="1400" dirty="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0,45</a:t>
                      </a:r>
                      <a:endParaRPr lang="en-US" sz="1400" dirty="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100%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100%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ARIMA(0,1,4)</a:t>
                      </a:r>
                      <a:endParaRPr lang="en-US" sz="1400" dirty="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0,52</a:t>
                      </a:r>
                      <a:endParaRPr lang="en-US" sz="1400" dirty="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0,37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85,2%</a:t>
                      </a:r>
                      <a:endParaRPr lang="en-US" sz="1400" dirty="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82,2%</a:t>
                      </a:r>
                      <a:endParaRPr lang="en-US" sz="1400" dirty="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CC-VAR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0,50</a:t>
                      </a:r>
                      <a:endParaRPr lang="en-US" sz="1400" dirty="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0,39</a:t>
                      </a:r>
                      <a:endParaRPr lang="en-US" sz="1400" dirty="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82%</a:t>
                      </a:r>
                      <a:endParaRPr lang="en-US" sz="1400" dirty="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86,7%</a:t>
                      </a:r>
                      <a:endParaRPr lang="en-US" sz="1400" dirty="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LightGBM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0,48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0,40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78,7%</a:t>
                      </a:r>
                      <a:endParaRPr lang="en-US" sz="1400" dirty="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88,9%</a:t>
                      </a:r>
                      <a:endParaRPr lang="en-US" sz="1400" dirty="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Ridge ★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0,36</a:t>
                      </a:r>
                      <a:endParaRPr lang="en-US" sz="1400" dirty="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0,31</a:t>
                      </a:r>
                      <a:endParaRPr lang="en-US" sz="1400" dirty="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59%</a:t>
                      </a:r>
                      <a:endParaRPr lang="en-US" sz="1400" dirty="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68,9%</a:t>
                      </a:r>
                      <a:endParaRPr lang="en-US" sz="1400" dirty="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7"/>
          <p:cNvSpPr txBox="1"/>
          <p:nvPr/>
        </p:nvSpPr>
        <p:spPr>
          <a:xfrm>
            <a:off x="952805" y="4306755"/>
            <a:ext cx="41916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Desempenho</a:t>
            </a:r>
            <a:r>
              <a:rPr lang="en-US" sz="1600" b="1" dirty="0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ML:</a:t>
            </a:r>
            <a:r>
              <a:rPr lang="en-US" sz="1600" dirty="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i="1" dirty="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Ridge</a:t>
            </a:r>
            <a:r>
              <a:rPr lang="en-US" sz="1600" dirty="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atinge</a:t>
            </a:r>
            <a:r>
              <a:rPr lang="en-US" sz="1600" dirty="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dirty="0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−31% MAE</a:t>
            </a:r>
            <a:r>
              <a:rPr lang="en-US" sz="1600" dirty="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 </a:t>
            </a:r>
            <a:r>
              <a:rPr lang="en-US" sz="1600" b="1" dirty="0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−41% RMSE</a:t>
            </a:r>
            <a:r>
              <a:rPr lang="en-US" sz="1600" dirty="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face </a:t>
            </a:r>
            <a:r>
              <a:rPr lang="en-US" sz="1600" dirty="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ao</a:t>
            </a:r>
            <a:r>
              <a:rPr lang="en-US" sz="1600" dirty="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modelo</a:t>
            </a:r>
            <a:r>
              <a:rPr lang="en-US" sz="1600" dirty="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i="1" dirty="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Naïve</a:t>
            </a:r>
            <a:r>
              <a:rPr lang="en-US" sz="1600" dirty="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Text 8"/>
          <p:cNvSpPr txBox="1"/>
          <p:nvPr/>
        </p:nvSpPr>
        <p:spPr>
          <a:xfrm>
            <a:off x="952805" y="4821359"/>
            <a:ext cx="4191610" cy="99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b="1" dirty="0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Relevância</a:t>
            </a:r>
            <a:r>
              <a:rPr lang="en-US" sz="1600" b="1" dirty="0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:</a:t>
            </a: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O </a:t>
            </a:r>
            <a:r>
              <a:rPr lang="en-US" sz="1600" i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Ridge</a:t>
            </a: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obteve</a:t>
            </a: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o </a:t>
            </a:r>
            <a:r>
              <a:rPr lang="en-US" sz="1600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melhor</a:t>
            </a: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desempenho</a:t>
            </a: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absoluto</a:t>
            </a: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no conjunto de teste, </a:t>
            </a:r>
            <a:r>
              <a:rPr lang="en-US" sz="1600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superando</a:t>
            </a: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todos</a:t>
            </a: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os</a:t>
            </a: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modelos</a:t>
            </a: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econométricos</a:t>
            </a: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tradicionais</a:t>
            </a:r>
            <a:r>
              <a:rPr lang="en-US" sz="16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.</a:t>
            </a:r>
            <a:endParaRPr lang="en-US" sz="1600" dirty="0">
              <a:latin typeface="Open Sans"/>
              <a:ea typeface="Open Sans"/>
              <a:cs typeface="Open Sans"/>
            </a:endParaRPr>
          </a:p>
        </p:txBody>
      </p:sp>
      <p:pic>
        <p:nvPicPr>
          <p:cNvPr id="20" name="Image 1" descr="gen-dedup-44d113b94a040fa597d5956dbb209098.png">
            <a:extLst>
              <a:ext uri="{FF2B5EF4-FFF2-40B4-BE49-F238E27FC236}">
                <a16:creationId xmlns:a16="http://schemas.microsoft.com/office/drawing/2014/main" id="{3BD2F221-3536-A851-067A-DC4CF0C7C4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9" r="1239"/>
          <a:stretch/>
        </p:blipFill>
        <p:spPr>
          <a:xfrm>
            <a:off x="-2287" y="-10758"/>
            <a:ext cx="1478585" cy="444184"/>
          </a:xfrm>
          <a:prstGeom prst="rect">
            <a:avLst/>
          </a:prstGeom>
        </p:spPr>
      </p:pic>
      <p:sp>
        <p:nvSpPr>
          <p:cNvPr id="21" name="Text 24">
            <a:extLst>
              <a:ext uri="{FF2B5EF4-FFF2-40B4-BE49-F238E27FC236}">
                <a16:creationId xmlns:a16="http://schemas.microsoft.com/office/drawing/2014/main" id="{AF7F34FD-EBA3-7D85-7042-65A6A89D89CF}"/>
              </a:ext>
            </a:extLst>
          </p:cNvPr>
          <p:cNvSpPr txBox="1"/>
          <p:nvPr/>
        </p:nvSpPr>
        <p:spPr>
          <a:xfrm>
            <a:off x="11525098" y="6381598"/>
            <a:ext cx="286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14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B177AA5F-B80F-9237-52EB-0B6FCBA95FE5}"/>
              </a:ext>
            </a:extLst>
          </p:cNvPr>
          <p:cNvSpPr txBox="1"/>
          <p:nvPr/>
        </p:nvSpPr>
        <p:spPr>
          <a:xfrm>
            <a:off x="11157172" y="156667"/>
            <a:ext cx="660197" cy="55321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04</a:t>
            </a:r>
            <a:endParaRPr lang="en-US" sz="3900">
              <a:solidFill>
                <a:srgbClr val="0E2A47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13" name="Imagem 12" descr="Uma imagem com diagrama, file, Gráfico, texto&#10;&#10;Os conteúdos gerados por IA poderão estar incorretos.">
            <a:extLst>
              <a:ext uri="{FF2B5EF4-FFF2-40B4-BE49-F238E27FC236}">
                <a16:creationId xmlns:a16="http://schemas.microsoft.com/office/drawing/2014/main" id="{CB5E4279-0F39-1097-6605-46D6EAE67C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104" y="841871"/>
            <a:ext cx="5945551" cy="3209581"/>
          </a:xfrm>
          <a:prstGeom prst="rect">
            <a:avLst/>
          </a:prstGeom>
        </p:spPr>
      </p:pic>
      <p:sp>
        <p:nvSpPr>
          <p:cNvPr id="5" name="Text 8">
            <a:extLst>
              <a:ext uri="{FF2B5EF4-FFF2-40B4-BE49-F238E27FC236}">
                <a16:creationId xmlns:a16="http://schemas.microsoft.com/office/drawing/2014/main" id="{F7D99B29-19BC-B55B-BFB0-A229C8C8C144}"/>
              </a:ext>
            </a:extLst>
          </p:cNvPr>
          <p:cNvSpPr txBox="1"/>
          <p:nvPr/>
        </p:nvSpPr>
        <p:spPr>
          <a:xfrm>
            <a:off x="82776" y="6272348"/>
            <a:ext cx="6038426" cy="4441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i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*</a:t>
            </a:r>
            <a:r>
              <a:rPr lang="en-US" sz="14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O </a:t>
            </a:r>
            <a:r>
              <a:rPr lang="en-US" sz="1400" i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Relative RMSE</a:t>
            </a:r>
            <a:r>
              <a:rPr lang="en-US" sz="14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e o </a:t>
            </a:r>
            <a:r>
              <a:rPr lang="en-US" sz="1400" i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Relative MAE </a:t>
            </a:r>
            <a:r>
              <a:rPr lang="en-US" sz="1400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foram</a:t>
            </a:r>
            <a:r>
              <a:rPr lang="en-US" sz="14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calculados</a:t>
            </a:r>
            <a:r>
              <a:rPr lang="en-US" sz="14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face </a:t>
            </a:r>
            <a:r>
              <a:rPr lang="en-US" sz="1400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ao</a:t>
            </a:r>
            <a:r>
              <a:rPr lang="en-US" sz="14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modelo</a:t>
            </a:r>
            <a:r>
              <a:rPr lang="en-US" sz="1400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400" i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Naïve </a:t>
            </a:r>
            <a:r>
              <a:rPr lang="en-US" sz="1400" i="1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que</a:t>
            </a:r>
            <a:r>
              <a:rPr lang="en-US" sz="1400" i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400" i="1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utiliza</a:t>
            </a:r>
            <a:r>
              <a:rPr lang="en-US" sz="1400" i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a </a:t>
            </a:r>
            <a:r>
              <a:rPr lang="en-US" sz="1400" i="1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média</a:t>
            </a:r>
            <a:r>
              <a:rPr lang="en-US" sz="1400" i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do conjunto de </a:t>
            </a:r>
            <a:r>
              <a:rPr lang="en-US" sz="1400" i="1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treino</a:t>
            </a:r>
            <a:r>
              <a:rPr lang="en-US" sz="1400" i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400" i="1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como</a:t>
            </a:r>
            <a:r>
              <a:rPr lang="en-US" sz="1400" i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400" i="1" dirty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previsão</a:t>
            </a:r>
            <a:r>
              <a:rPr lang="en-US" sz="1400" i="1" dirty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.</a:t>
            </a:r>
            <a:endParaRPr lang="en-US" sz="1400" dirty="0">
              <a:solidFill>
                <a:srgbClr val="333333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8C0E04-F36B-05C6-6ED5-A8E40FAD91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0285" y="4221571"/>
            <a:ext cx="3780317" cy="24659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 sz="2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2001500" y="0"/>
            <a:ext cx="190195" cy="6858000"/>
          </a:xfrm>
          <a:prstGeom prst="rect">
            <a:avLst/>
          </a:prstGeom>
          <a:solidFill>
            <a:srgbClr val="0E2A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" name="Image 1" descr="gen-dedup-e90bf014df6775d20b14f33cecb6d369.png"/>
          <p:cNvPicPr>
            <a:picLocks noChangeAspect="1"/>
          </p:cNvPicPr>
          <p:nvPr/>
        </p:nvPicPr>
        <p:blipFill>
          <a:blip r:embed="rId3"/>
          <a:srcRect t="-9" b="-9"/>
          <a:stretch/>
        </p:blipFill>
        <p:spPr>
          <a:xfrm>
            <a:off x="761695" y="5323025"/>
            <a:ext cx="4438498" cy="104790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356262" y="1714500"/>
            <a:ext cx="6379147" cy="4667939"/>
          </a:xfrm>
          <a:prstGeom prst="roundRect">
            <a:avLst>
              <a:gd name="adj" fmla="val 63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 4"/>
          <p:cNvSpPr txBox="1"/>
          <p:nvPr/>
        </p:nvSpPr>
        <p:spPr>
          <a:xfrm>
            <a:off x="761695" y="714145"/>
            <a:ext cx="8551987" cy="72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Explicabilidade</a:t>
            </a:r>
            <a:r>
              <a:rPr lang="en-US" sz="40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 do </a:t>
            </a:r>
            <a:r>
              <a:rPr lang="en-US" sz="4000" b="1" i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Ridge</a:t>
            </a:r>
            <a:endParaRPr lang="en-US" sz="4000" b="1">
              <a:solidFill>
                <a:srgbClr val="0E2A47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1000354" y="1809598"/>
            <a:ext cx="414406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Desfasamento</a:t>
            </a:r>
            <a:r>
              <a:rPr lang="en-US" sz="1200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 1 da </a:t>
            </a:r>
            <a:r>
              <a:rPr lang="en-US" sz="1200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Inflação</a:t>
            </a:r>
            <a:endParaRPr lang="en-US" sz="1200" b="1">
              <a:solidFill>
                <a:srgbClr val="0097A7"/>
              </a:solidFill>
              <a:latin typeface="Open Sans"/>
              <a:ea typeface="Open Sans"/>
              <a:cs typeface="Open Sans"/>
            </a:endParaRPr>
          </a:p>
          <a:p>
            <a:pPr marL="0" indent="0" algn="l">
              <a:buNone/>
            </a:pPr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(+0,58): </a:t>
            </a:r>
            <a:r>
              <a:rPr lang="en-US" sz="14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Inércia</a:t>
            </a:r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inflacionista</a:t>
            </a:r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domina</a:t>
            </a:r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fortemente.</a:t>
            </a:r>
            <a:endParaRPr lang="en-US" sz="1400">
              <a:latin typeface="Open Sans"/>
              <a:ea typeface="Open Sans"/>
              <a:cs typeface="Open Sans"/>
            </a:endParaRPr>
          </a:p>
        </p:txBody>
      </p:sp>
      <p:sp>
        <p:nvSpPr>
          <p:cNvPr id="11" name="Text 6"/>
          <p:cNvSpPr txBox="1"/>
          <p:nvPr/>
        </p:nvSpPr>
        <p:spPr>
          <a:xfrm>
            <a:off x="1000354" y="2369210"/>
            <a:ext cx="414406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PCEPI</a:t>
            </a:r>
            <a:r>
              <a:rPr lang="en-US" sz="14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/ Inflação EUA</a:t>
            </a:r>
            <a:endParaRPr lang="en-US" sz="1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l">
              <a:buNone/>
            </a:pPr>
            <a:r>
              <a:rPr lang="en-US" sz="14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(+): </a:t>
            </a:r>
            <a:r>
              <a:rPr lang="en-US" sz="14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Transmissão</a:t>
            </a:r>
            <a:r>
              <a:rPr lang="en-US" sz="14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sz="14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pressões</a:t>
            </a:r>
            <a:r>
              <a:rPr lang="en-US" sz="14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globais</a:t>
            </a:r>
            <a:r>
              <a:rPr lang="en-US" sz="14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preços.</a:t>
            </a:r>
            <a:endParaRPr lang="en-US" sz="1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 7"/>
          <p:cNvSpPr txBox="1"/>
          <p:nvPr/>
        </p:nvSpPr>
        <p:spPr>
          <a:xfrm>
            <a:off x="981993" y="3635739"/>
            <a:ext cx="4144061" cy="548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EXPGS</a:t>
            </a:r>
            <a:endParaRPr lang="en-US" sz="1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l">
              <a:buNone/>
            </a:pPr>
            <a:r>
              <a:rPr lang="en-US" sz="14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(+): </a:t>
            </a:r>
            <a:r>
              <a:rPr lang="en-US" sz="14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Pressões</a:t>
            </a:r>
            <a:r>
              <a:rPr lang="en-US" sz="14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via canal de </a:t>
            </a:r>
            <a:r>
              <a:rPr lang="en-US" sz="14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competitividade</a:t>
            </a:r>
            <a:r>
              <a:rPr lang="en-US" sz="14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externa.</a:t>
            </a:r>
            <a:endParaRPr lang="en-US" sz="1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Text 8"/>
          <p:cNvSpPr txBox="1"/>
          <p:nvPr/>
        </p:nvSpPr>
        <p:spPr>
          <a:xfrm>
            <a:off x="1000354" y="2934629"/>
            <a:ext cx="4144061" cy="559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PPIPT</a:t>
            </a:r>
            <a:endParaRPr lang="en-US" sz="1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l">
              <a:buNone/>
            </a:pPr>
            <a:r>
              <a:rPr lang="en-US" sz="14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(+): Custos de </a:t>
            </a:r>
            <a:r>
              <a:rPr lang="en-US" sz="14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produção</a:t>
            </a:r>
            <a:r>
              <a:rPr lang="en-US" sz="14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transmitidos</a:t>
            </a:r>
            <a:r>
              <a:rPr lang="en-US" sz="14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ao</a:t>
            </a:r>
            <a:r>
              <a:rPr lang="en-US" sz="14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consumidor</a:t>
            </a:r>
            <a:r>
              <a:rPr lang="en-US" sz="14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1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1000354" y="4255251"/>
            <a:ext cx="4144061" cy="868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EPU </a:t>
            </a:r>
            <a:r>
              <a:rPr lang="en-US" sz="1200" b="1" i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lag</a:t>
            </a: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r>
            <a:endParaRPr lang="en-US" sz="1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l">
              <a:buNone/>
            </a:pPr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(−): </a:t>
            </a:r>
            <a:r>
              <a:rPr lang="en-US" sz="14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Incerteza</a:t>
            </a:r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política</a:t>
            </a:r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4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modera</a:t>
            </a:r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a </a:t>
            </a:r>
            <a:r>
              <a:rPr lang="en-US" sz="14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inflação</a:t>
            </a:r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.</a:t>
            </a:r>
          </a:p>
          <a:p>
            <a:r>
              <a:rPr lang="en-US" sz="12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CCI</a:t>
            </a:r>
            <a:endParaRPr lang="en-US" sz="1200" b="1">
              <a:solidFill>
                <a:srgbClr val="0E2A47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14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(−): </a:t>
            </a:r>
            <a:r>
              <a:rPr lang="en-US" sz="1400" err="1">
                <a:solidFill>
                  <a:srgbClr val="333333"/>
                </a:solidFill>
                <a:ea typeface="+mn-lt"/>
                <a:cs typeface="+mn-lt"/>
              </a:rPr>
              <a:t>Associação</a:t>
            </a:r>
            <a:r>
              <a:rPr lang="en-US" sz="1400">
                <a:solidFill>
                  <a:srgbClr val="333333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ea typeface="+mn-lt"/>
                <a:cs typeface="+mn-lt"/>
              </a:rPr>
              <a:t>negativa</a:t>
            </a:r>
            <a:r>
              <a:rPr lang="en-US" sz="1400">
                <a:solidFill>
                  <a:srgbClr val="333333"/>
                </a:solidFill>
                <a:ea typeface="+mn-lt"/>
                <a:cs typeface="+mn-lt"/>
              </a:rPr>
              <a:t> com a </a:t>
            </a:r>
            <a:r>
              <a:rPr lang="en-US" sz="1400" err="1">
                <a:solidFill>
                  <a:srgbClr val="333333"/>
                </a:solidFill>
                <a:ea typeface="+mn-lt"/>
                <a:cs typeface="+mn-lt"/>
              </a:rPr>
              <a:t>inflação</a:t>
            </a:r>
            <a:r>
              <a:rPr lang="en-US" sz="1400">
                <a:solidFill>
                  <a:srgbClr val="333333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3333"/>
                </a:solidFill>
                <a:ea typeface="+mn-lt"/>
                <a:cs typeface="+mn-lt"/>
              </a:rPr>
              <a:t>futura</a:t>
            </a:r>
            <a:r>
              <a:rPr lang="en-US" sz="1400">
                <a:solidFill>
                  <a:srgbClr val="333333"/>
                </a:solidFill>
                <a:ea typeface="+mn-lt"/>
                <a:cs typeface="+mn-lt"/>
              </a:rPr>
              <a:t>.</a:t>
            </a:r>
          </a:p>
        </p:txBody>
      </p:sp>
      <p:sp>
        <p:nvSpPr>
          <p:cNvPr id="18" name="Text 13"/>
          <p:cNvSpPr txBox="1"/>
          <p:nvPr/>
        </p:nvSpPr>
        <p:spPr>
          <a:xfrm>
            <a:off x="952805" y="5418123"/>
            <a:ext cx="400050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err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Mensagem</a:t>
            </a:r>
            <a:r>
              <a:rPr lang="en-US" sz="1600" b="1" i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-Chave:</a:t>
            </a:r>
            <a:endParaRPr lang="en-US" sz="16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l">
              <a:buNone/>
            </a:pPr>
            <a:r>
              <a:rPr lang="en-US" sz="1400" i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en-US" sz="1400" i="1" err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combinação</a:t>
            </a:r>
            <a:r>
              <a:rPr lang="en-US" sz="1400" i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sz="1400" i="1" err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sinais</a:t>
            </a:r>
            <a:r>
              <a:rPr lang="en-US" sz="1400" i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i="1" err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globais</a:t>
            </a:r>
            <a:r>
              <a:rPr lang="en-US" sz="1400" i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400" i="1" err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componentes</a:t>
            </a:r>
            <a:r>
              <a:rPr lang="en-US" sz="1400" i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i="1" err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locais</a:t>
            </a:r>
            <a:r>
              <a:rPr lang="en-US" sz="1400" i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i="1" err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estruturais</a:t>
            </a:r>
            <a:r>
              <a:rPr lang="en-US" sz="1400" i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 a </a:t>
            </a:r>
            <a:r>
              <a:rPr lang="en-US" sz="1400" i="1" err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memória</a:t>
            </a:r>
            <a:r>
              <a:rPr lang="en-US" sz="1400" i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 </a:t>
            </a:r>
            <a:r>
              <a:rPr lang="en-US" sz="1400" i="1" err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inflação</a:t>
            </a:r>
            <a:r>
              <a:rPr lang="en-US" sz="1400" i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i="1" err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resulta</a:t>
            </a:r>
            <a:r>
              <a:rPr lang="en-US" sz="1400" i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no </a:t>
            </a:r>
            <a:r>
              <a:rPr lang="en-US" sz="1400" i="1" err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melhor</a:t>
            </a:r>
            <a:r>
              <a:rPr lang="en-US" sz="1400" i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i="1" err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desempenho</a:t>
            </a:r>
            <a:r>
              <a:rPr lang="en-US" sz="1400" i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i="1" err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preditivo</a:t>
            </a:r>
            <a:r>
              <a:rPr lang="en-US" sz="1400" i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endParaRPr lang="en-US" sz="1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5" name="Image 1" descr="gen-dedup-44d113b94a040fa597d5956dbb209098.png">
            <a:extLst>
              <a:ext uri="{FF2B5EF4-FFF2-40B4-BE49-F238E27FC236}">
                <a16:creationId xmlns:a16="http://schemas.microsoft.com/office/drawing/2014/main" id="{A9A57472-5BDD-93D3-DE3E-56AC463C4F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39" r="1239"/>
          <a:stretch/>
        </p:blipFill>
        <p:spPr>
          <a:xfrm>
            <a:off x="-2287" y="-10758"/>
            <a:ext cx="1478585" cy="444184"/>
          </a:xfrm>
          <a:prstGeom prst="rect">
            <a:avLst/>
          </a:prstGeom>
        </p:spPr>
      </p:pic>
      <p:sp>
        <p:nvSpPr>
          <p:cNvPr id="21" name="Text 24">
            <a:extLst>
              <a:ext uri="{FF2B5EF4-FFF2-40B4-BE49-F238E27FC236}">
                <a16:creationId xmlns:a16="http://schemas.microsoft.com/office/drawing/2014/main" id="{D3C38F1F-1C40-45D7-D3BA-5038A524B8B0}"/>
              </a:ext>
            </a:extLst>
          </p:cNvPr>
          <p:cNvSpPr txBox="1"/>
          <p:nvPr/>
        </p:nvSpPr>
        <p:spPr>
          <a:xfrm>
            <a:off x="11525098" y="6381598"/>
            <a:ext cx="286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15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97988BAC-AA15-D03D-C86A-F16FD82C20C5}"/>
              </a:ext>
            </a:extLst>
          </p:cNvPr>
          <p:cNvSpPr txBox="1"/>
          <p:nvPr/>
        </p:nvSpPr>
        <p:spPr>
          <a:xfrm>
            <a:off x="11157172" y="156667"/>
            <a:ext cx="660197" cy="55321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04</a:t>
            </a:r>
            <a:endParaRPr lang="en-US" sz="3900">
              <a:solidFill>
                <a:srgbClr val="0E2A47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8" name="Imagem 7" descr="Uma imagem com texto, captura de ecrã, diagrama, número&#10;&#10;Os conteúdos gerados por IA poderão estar incorretos.">
            <a:extLst>
              <a:ext uri="{FF2B5EF4-FFF2-40B4-BE49-F238E27FC236}">
                <a16:creationId xmlns:a16="http://schemas.microsoft.com/office/drawing/2014/main" id="{ECC07400-730F-443F-6C0C-77BA8905FE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7701" y="2208824"/>
            <a:ext cx="6303370" cy="3826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 sz="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2001500" y="0"/>
            <a:ext cx="190195" cy="6858000"/>
          </a:xfrm>
          <a:prstGeom prst="rect">
            <a:avLst/>
          </a:prstGeom>
          <a:solidFill>
            <a:srgbClr val="0E2A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61695" y="1904695"/>
            <a:ext cx="4304995" cy="972007"/>
          </a:xfrm>
          <a:prstGeom prst="roundRect">
            <a:avLst>
              <a:gd name="adj" fmla="val 147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pt-PT" sz="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61695" y="3047695"/>
            <a:ext cx="4286707" cy="476402"/>
          </a:xfrm>
          <a:prstGeom prst="roundRect">
            <a:avLst>
              <a:gd name="adj" fmla="val 61420"/>
            </a:avLst>
          </a:prstGeom>
          <a:solidFill>
            <a:srgbClr val="0E2A4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 12"/>
          <p:cNvSpPr txBox="1"/>
          <p:nvPr/>
        </p:nvSpPr>
        <p:spPr>
          <a:xfrm>
            <a:off x="761694" y="857706"/>
            <a:ext cx="3600000" cy="72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i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Deployment</a:t>
            </a:r>
            <a:endParaRPr lang="en-US" sz="4000" i="1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" name="Text 13"/>
          <p:cNvSpPr txBox="1"/>
          <p:nvPr/>
        </p:nvSpPr>
        <p:spPr>
          <a:xfrm>
            <a:off x="952805" y="2109521"/>
            <a:ext cx="17629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Backend</a:t>
            </a:r>
            <a:endParaRPr lang="en-US" sz="1200" i="1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Text 14"/>
          <p:cNvSpPr txBox="1"/>
          <p:nvPr/>
        </p:nvSpPr>
        <p:spPr>
          <a:xfrm>
            <a:off x="952805" y="2338121"/>
            <a:ext cx="17629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FastAPI</a:t>
            </a:r>
            <a:endParaRPr lang="en-US" sz="2400" i="1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6" name="Image 9" descr="gen-dedup-0ee331b7d5b102de03ea33f872603a14.png"/>
          <p:cNvPicPr>
            <a:picLocks noChangeAspect="1"/>
          </p:cNvPicPr>
          <p:nvPr/>
        </p:nvPicPr>
        <p:blipFill>
          <a:blip r:embed="rId3"/>
          <a:srcRect l="-384" r="-384"/>
          <a:stretch/>
        </p:blipFill>
        <p:spPr>
          <a:xfrm>
            <a:off x="2895905" y="2143354"/>
            <a:ext cx="19202" cy="476402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3100730" y="2109521"/>
            <a:ext cx="17629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>
                <a:solidFill>
                  <a:srgbClr val="5555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Frontend</a:t>
            </a:r>
            <a:endParaRPr lang="en-US" sz="1200" i="1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Text 16"/>
          <p:cNvSpPr txBox="1"/>
          <p:nvPr/>
        </p:nvSpPr>
        <p:spPr>
          <a:xfrm>
            <a:off x="3100730" y="2338121"/>
            <a:ext cx="17629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Next.js</a:t>
            </a:r>
            <a:endParaRPr lang="en-US" sz="2400" i="1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" name="Text 17"/>
          <p:cNvSpPr txBox="1"/>
          <p:nvPr/>
        </p:nvSpPr>
        <p:spPr>
          <a:xfrm>
            <a:off x="857707" y="3060914"/>
            <a:ext cx="4016303" cy="45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b="1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4"/>
              </a:rPr>
              <a:t>🔗 </a:t>
            </a:r>
            <a:r>
              <a:rPr lang="en-US" sz="12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4"/>
              </a:rPr>
              <a:t>https://inflationforecast.netlify.app/dashboard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0" name="Text 18"/>
          <p:cNvSpPr txBox="1"/>
          <p:nvPr/>
        </p:nvSpPr>
        <p:spPr>
          <a:xfrm>
            <a:off x="1429207" y="4572000"/>
            <a:ext cx="952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Dashboard</a:t>
            </a:r>
            <a:endParaRPr lang="en-US" sz="1100" i="1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1" name="Text 19"/>
          <p:cNvSpPr txBox="1"/>
          <p:nvPr/>
        </p:nvSpPr>
        <p:spPr>
          <a:xfrm>
            <a:off x="3333902" y="4572000"/>
            <a:ext cx="952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GitHub</a:t>
            </a:r>
            <a:endParaRPr lang="en-US" sz="11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" name="Text 20"/>
          <p:cNvSpPr txBox="1"/>
          <p:nvPr/>
        </p:nvSpPr>
        <p:spPr>
          <a:xfrm>
            <a:off x="432794" y="4921669"/>
            <a:ext cx="293813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Plataforma de </a:t>
            </a:r>
            <a:r>
              <a:rPr lang="en-US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Previsão</a:t>
            </a:r>
            <a:r>
              <a:rPr lang="en-US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 da </a:t>
            </a:r>
            <a:r>
              <a:rPr lang="en-US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Inflação</a:t>
            </a:r>
            <a:endParaRPr lang="en-US" err="1">
              <a:latin typeface="Open Sans"/>
              <a:ea typeface="Open Sans"/>
              <a:cs typeface="Open Sans"/>
            </a:endParaRPr>
          </a:p>
        </p:txBody>
      </p:sp>
      <p:sp>
        <p:nvSpPr>
          <p:cNvPr id="33" name="Text 21"/>
          <p:cNvSpPr txBox="1"/>
          <p:nvPr/>
        </p:nvSpPr>
        <p:spPr>
          <a:xfrm>
            <a:off x="1300" y="5396789"/>
            <a:ext cx="3810305" cy="1136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Aplicação</a:t>
            </a:r>
            <a:r>
              <a:rPr lang="en-US" sz="1400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400" b="1" i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web</a:t>
            </a:r>
            <a:r>
              <a:rPr lang="en-US" sz="1400">
                <a:solidFill>
                  <a:srgbClr val="5555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555555"/>
                </a:solidFill>
                <a:ea typeface="+mn-lt"/>
                <a:cs typeface="+mn-lt"/>
              </a:rPr>
              <a:t>que</a:t>
            </a:r>
            <a:r>
              <a:rPr lang="en-US" sz="1400">
                <a:solidFill>
                  <a:srgbClr val="5555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555555"/>
                </a:solidFill>
                <a:ea typeface="+mn-lt"/>
                <a:cs typeface="+mn-lt"/>
              </a:rPr>
              <a:t>permite</a:t>
            </a:r>
            <a:r>
              <a:rPr lang="en-US" sz="1400">
                <a:solidFill>
                  <a:srgbClr val="5555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555555"/>
                </a:solidFill>
                <a:ea typeface="+mn-lt"/>
                <a:cs typeface="+mn-lt"/>
              </a:rPr>
              <a:t>explorar</a:t>
            </a:r>
            <a:r>
              <a:rPr lang="en-US" sz="1400">
                <a:solidFill>
                  <a:srgbClr val="5555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555555"/>
                </a:solidFill>
                <a:ea typeface="+mn-lt"/>
                <a:cs typeface="+mn-lt"/>
              </a:rPr>
              <a:t>os</a:t>
            </a:r>
            <a:r>
              <a:rPr lang="en-US" sz="1400">
                <a:solidFill>
                  <a:srgbClr val="5555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555555"/>
                </a:solidFill>
                <a:ea typeface="+mn-lt"/>
                <a:cs typeface="+mn-lt"/>
              </a:rPr>
              <a:t>modelos</a:t>
            </a:r>
            <a:r>
              <a:rPr lang="en-US" sz="1400">
                <a:solidFill>
                  <a:srgbClr val="5555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555555"/>
                </a:solidFill>
                <a:ea typeface="+mn-lt"/>
                <a:cs typeface="+mn-lt"/>
              </a:rPr>
              <a:t>desenvolvidos</a:t>
            </a:r>
            <a:r>
              <a:rPr lang="en-US" sz="1400">
                <a:solidFill>
                  <a:srgbClr val="555555"/>
                </a:solidFill>
                <a:ea typeface="+mn-lt"/>
                <a:cs typeface="+mn-lt"/>
              </a:rPr>
              <a:t>, </a:t>
            </a:r>
            <a:r>
              <a:rPr lang="en-US" sz="1400" err="1">
                <a:solidFill>
                  <a:srgbClr val="555555"/>
                </a:solidFill>
                <a:ea typeface="+mn-lt"/>
                <a:cs typeface="+mn-lt"/>
              </a:rPr>
              <a:t>simular</a:t>
            </a:r>
            <a:r>
              <a:rPr lang="en-US" sz="1400">
                <a:solidFill>
                  <a:srgbClr val="5555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555555"/>
                </a:solidFill>
                <a:ea typeface="+mn-lt"/>
                <a:cs typeface="+mn-lt"/>
              </a:rPr>
              <a:t>cenários</a:t>
            </a:r>
            <a:r>
              <a:rPr lang="en-US" sz="1400">
                <a:solidFill>
                  <a:srgbClr val="555555"/>
                </a:solidFill>
                <a:ea typeface="+mn-lt"/>
                <a:cs typeface="+mn-lt"/>
              </a:rPr>
              <a:t> e </a:t>
            </a:r>
            <a:r>
              <a:rPr lang="en-US" sz="1400" err="1">
                <a:solidFill>
                  <a:srgbClr val="555555"/>
                </a:solidFill>
                <a:ea typeface="+mn-lt"/>
                <a:cs typeface="+mn-lt"/>
              </a:rPr>
              <a:t>analisar</a:t>
            </a:r>
            <a:r>
              <a:rPr lang="en-US" sz="1400">
                <a:solidFill>
                  <a:srgbClr val="555555"/>
                </a:solidFill>
                <a:ea typeface="+mn-lt"/>
                <a:cs typeface="+mn-lt"/>
              </a:rPr>
              <a:t> a </a:t>
            </a:r>
            <a:r>
              <a:rPr lang="en-US" sz="1400" err="1">
                <a:solidFill>
                  <a:srgbClr val="555555"/>
                </a:solidFill>
                <a:ea typeface="+mn-lt"/>
                <a:cs typeface="+mn-lt"/>
              </a:rPr>
              <a:t>relação</a:t>
            </a:r>
            <a:r>
              <a:rPr lang="en-US" sz="1400">
                <a:solidFill>
                  <a:srgbClr val="555555"/>
                </a:solidFill>
                <a:ea typeface="+mn-lt"/>
                <a:cs typeface="+mn-lt"/>
              </a:rPr>
              <a:t> das </a:t>
            </a:r>
            <a:r>
              <a:rPr lang="en-US" sz="1400" err="1">
                <a:solidFill>
                  <a:srgbClr val="555555"/>
                </a:solidFill>
                <a:ea typeface="+mn-lt"/>
                <a:cs typeface="+mn-lt"/>
              </a:rPr>
              <a:t>variáveis</a:t>
            </a:r>
            <a:r>
              <a:rPr lang="en-US" sz="1400">
                <a:solidFill>
                  <a:srgbClr val="555555"/>
                </a:solidFill>
                <a:ea typeface="+mn-lt"/>
                <a:cs typeface="+mn-lt"/>
              </a:rPr>
              <a:t> com a </a:t>
            </a:r>
            <a:r>
              <a:rPr lang="en-US" sz="1400" err="1">
                <a:solidFill>
                  <a:srgbClr val="555555"/>
                </a:solidFill>
                <a:ea typeface="+mn-lt"/>
                <a:cs typeface="+mn-lt"/>
              </a:rPr>
              <a:t>inflação</a:t>
            </a:r>
            <a:r>
              <a:rPr lang="en-US" sz="1400">
                <a:solidFill>
                  <a:srgbClr val="555555"/>
                </a:solidFill>
                <a:ea typeface="+mn-lt"/>
                <a:cs typeface="+mn-lt"/>
              </a:rPr>
              <a:t>.</a:t>
            </a:r>
            <a:endParaRPr lang="en-US" sz="1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27D43DF-4D62-87B6-7069-EF996AEBD3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2" t="202"/>
          <a:stretch>
            <a:fillRect/>
          </a:stretch>
        </p:blipFill>
        <p:spPr>
          <a:xfrm>
            <a:off x="5451652" y="1904695"/>
            <a:ext cx="6323641" cy="4096512"/>
          </a:xfrm>
          <a:prstGeom prst="rect">
            <a:avLst/>
          </a:prstGeom>
        </p:spPr>
      </p:pic>
      <p:pic>
        <p:nvPicPr>
          <p:cNvPr id="9" name="Image 1" descr="gen-dedup-44d113b94a040fa597d5956dbb209098.png">
            <a:extLst>
              <a:ext uri="{FF2B5EF4-FFF2-40B4-BE49-F238E27FC236}">
                <a16:creationId xmlns:a16="http://schemas.microsoft.com/office/drawing/2014/main" id="{19354984-9B0D-EDC9-8EB1-164E691B377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39" r="1239"/>
          <a:stretch/>
        </p:blipFill>
        <p:spPr>
          <a:xfrm>
            <a:off x="-2287" y="-10758"/>
            <a:ext cx="1478585" cy="444184"/>
          </a:xfrm>
          <a:prstGeom prst="rect">
            <a:avLst/>
          </a:prstGeom>
        </p:spPr>
      </p:pic>
      <p:sp>
        <p:nvSpPr>
          <p:cNvPr id="48" name="Text 24">
            <a:extLst>
              <a:ext uri="{FF2B5EF4-FFF2-40B4-BE49-F238E27FC236}">
                <a16:creationId xmlns:a16="http://schemas.microsoft.com/office/drawing/2014/main" id="{98EA7AD0-4ADB-06F6-0E31-D535ECF4F928}"/>
              </a:ext>
            </a:extLst>
          </p:cNvPr>
          <p:cNvSpPr txBox="1"/>
          <p:nvPr/>
        </p:nvSpPr>
        <p:spPr>
          <a:xfrm>
            <a:off x="11525098" y="6381598"/>
            <a:ext cx="286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16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9" name="Imagem 48">
            <a:extLst>
              <a:ext uri="{FF2B5EF4-FFF2-40B4-BE49-F238E27FC236}">
                <a16:creationId xmlns:a16="http://schemas.microsoft.com/office/drawing/2014/main" id="{73B1CD8D-FFAC-0C51-91FA-573D32AE3F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2770" y="3696933"/>
            <a:ext cx="875067" cy="875067"/>
          </a:xfrm>
          <a:prstGeom prst="rect">
            <a:avLst/>
          </a:prstGeom>
        </p:spPr>
      </p:pic>
      <p:pic>
        <p:nvPicPr>
          <p:cNvPr id="50" name="Imagem 49">
            <a:extLst>
              <a:ext uri="{FF2B5EF4-FFF2-40B4-BE49-F238E27FC236}">
                <a16:creationId xmlns:a16="http://schemas.microsoft.com/office/drawing/2014/main" id="{6CC1399C-8786-CDB6-0279-A8B2F30FDA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8075" y="3691554"/>
            <a:ext cx="875067" cy="875067"/>
          </a:xfrm>
          <a:prstGeom prst="rect">
            <a:avLst/>
          </a:prstGeom>
        </p:spPr>
      </p:pic>
      <p:sp>
        <p:nvSpPr>
          <p:cNvPr id="5" name="Text 9">
            <a:extLst>
              <a:ext uri="{FF2B5EF4-FFF2-40B4-BE49-F238E27FC236}">
                <a16:creationId xmlns:a16="http://schemas.microsoft.com/office/drawing/2014/main" id="{E985E989-9910-9923-F1E2-9C6A2DD7EF49}"/>
              </a:ext>
            </a:extLst>
          </p:cNvPr>
          <p:cNvSpPr txBox="1"/>
          <p:nvPr/>
        </p:nvSpPr>
        <p:spPr>
          <a:xfrm>
            <a:off x="11157172" y="156667"/>
            <a:ext cx="660197" cy="55321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05</a:t>
            </a:r>
            <a:endParaRPr lang="en-US" sz="3900">
              <a:solidFill>
                <a:srgbClr val="0E2A47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2001500" y="0"/>
            <a:ext cx="190195" cy="6858000"/>
          </a:xfrm>
          <a:prstGeom prst="rect">
            <a:avLst/>
          </a:prstGeom>
          <a:solidFill>
            <a:srgbClr val="0E2A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61694" y="1714500"/>
            <a:ext cx="10395477" cy="4667098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 lIns="91440" tIns="45720" rIns="91440" bIns="45720" anchor="t"/>
          <a:lstStyle/>
          <a:p>
            <a:r>
              <a:rPr lang="en-US" sz="2000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Resposta</a:t>
            </a:r>
            <a:r>
              <a:rPr lang="en-US" sz="2000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às</a:t>
            </a:r>
            <a:r>
              <a:rPr lang="en-US" sz="2000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Questões</a:t>
            </a:r>
            <a:r>
              <a:rPr lang="en-US" sz="2000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 de </a:t>
            </a:r>
            <a:r>
              <a:rPr lang="en-US" sz="2000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Investigação</a:t>
            </a:r>
            <a:endParaRPr lang="en-US" sz="2000" b="1">
              <a:solidFill>
                <a:srgbClr val="0097A7"/>
              </a:solidFill>
              <a:latin typeface="Open Sans"/>
              <a:ea typeface="Open Sans"/>
              <a:cs typeface="Open Sans"/>
            </a:endParaRPr>
          </a:p>
          <a:p>
            <a:endParaRPr lang="en-US" sz="1600" b="1">
              <a:solidFill>
                <a:srgbClr val="0097A7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Modelos</a:t>
            </a:r>
            <a:r>
              <a:rPr lang="en-US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 de </a:t>
            </a:r>
            <a:r>
              <a:rPr lang="en-US" b="1" i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Machine Learning</a:t>
            </a:r>
            <a:r>
              <a:rPr lang="en-US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superam</a:t>
            </a:r>
            <a:r>
              <a:rPr lang="en-US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os</a:t>
            </a:r>
            <a:r>
              <a:rPr lang="en-US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Modelos</a:t>
            </a:r>
            <a:r>
              <a:rPr lang="en-US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Clássicos</a:t>
            </a:r>
            <a:r>
              <a:rPr lang="en-US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?</a:t>
            </a:r>
          </a:p>
          <a:p>
            <a:pPr marL="285750" indent="-285750" algn="just">
              <a:buClr>
                <a:srgbClr val="0097A7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O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modelo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i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Ridge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, um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Modelos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de ML é o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melhor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modelo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,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superando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os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Modelos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Clássicos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. Face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ao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Modelo </a:t>
            </a:r>
            <a:r>
              <a:rPr lang="en-US" sz="1600" i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Naïve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teve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uma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melhoria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de </a:t>
            </a:r>
            <a:r>
              <a:rPr lang="en-US" sz="1600" b="1">
                <a:solidFill>
                  <a:srgbClr val="333333"/>
                </a:solidFill>
                <a:ea typeface="+mn-lt"/>
                <a:cs typeface="+mn-lt"/>
              </a:rPr>
              <a:t>23,1% </a:t>
            </a: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para o</a:t>
            </a:r>
            <a:r>
              <a:rPr lang="en-US" sz="1600" b="1">
                <a:solidFill>
                  <a:srgbClr val="333333"/>
                </a:solidFill>
                <a:ea typeface="+mn-lt"/>
                <a:cs typeface="+mn-lt"/>
              </a:rPr>
              <a:t> MAE </a:t>
            </a: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e</a:t>
            </a:r>
            <a:r>
              <a:rPr lang="en-US" sz="1600" b="1">
                <a:solidFill>
                  <a:srgbClr val="333333"/>
                </a:solidFill>
                <a:ea typeface="+mn-lt"/>
                <a:cs typeface="+mn-lt"/>
              </a:rPr>
              <a:t> 32,7% </a:t>
            </a: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para o </a:t>
            </a:r>
            <a:r>
              <a:rPr lang="en-US" sz="1600" b="1">
                <a:solidFill>
                  <a:srgbClr val="333333"/>
                </a:solidFill>
                <a:ea typeface="+mn-lt"/>
                <a:cs typeface="+mn-lt"/>
              </a:rPr>
              <a:t>RMSE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.</a:t>
            </a:r>
          </a:p>
          <a:p>
            <a:pPr algn="just"/>
            <a:endParaRPr lang="en-US" sz="16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pt-PT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Quais os principais fatores determinantes?</a:t>
            </a:r>
          </a:p>
          <a:p>
            <a:r>
              <a:rPr lang="pt-PT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inclusão de sentimento e incerteza melhora os modelos?</a:t>
            </a:r>
            <a:endParaRPr lang="en-US" sz="1600">
              <a:solidFill>
                <a:srgbClr val="333333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 algn="just">
              <a:buClr>
                <a:srgbClr val="0097A7"/>
              </a:buClr>
              <a:buFont typeface="Arial" panose="020B0604020202020204" pitchFamily="34" charset="0"/>
              <a:buChar char="•"/>
            </a:pPr>
            <a:r>
              <a:rPr lang="pt-PT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Verificou-se que a inflação passada (</a:t>
            </a:r>
            <a:r>
              <a:rPr lang="pt-PT" sz="1600" i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lag</a:t>
            </a:r>
            <a:r>
              <a:rPr lang="pt-PT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1) é o preditor dominante.</a:t>
            </a:r>
          </a:p>
          <a:p>
            <a:pPr marL="285750" indent="-285750" algn="just">
              <a:buClr>
                <a:srgbClr val="0097A7"/>
              </a:buClr>
              <a:buFont typeface="Arial" panose="020B0604020202020204" pitchFamily="34" charset="0"/>
              <a:buChar char="•"/>
            </a:pPr>
            <a:endParaRPr lang="en-US" sz="1600">
              <a:solidFill>
                <a:srgbClr val="333333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 algn="just">
              <a:buClr>
                <a:srgbClr val="0097A7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O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modelo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pt-PT" sz="1600" i="1" noProof="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LightGBM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ficou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abaixo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do </a:t>
            </a:r>
            <a:r>
              <a:rPr lang="en-US" sz="1600" i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Naïve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(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variáveis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teóricas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sozinhas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são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insuficientes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sem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as </a:t>
            </a:r>
            <a:r>
              <a:rPr lang="en-US" sz="1600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computacionais</a:t>
            </a:r>
            <a:r>
              <a:rPr lang="en-US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).</a:t>
            </a:r>
            <a:endParaRPr lang="pt-PT" sz="1600">
              <a:solidFill>
                <a:srgbClr val="333333"/>
              </a:solidFill>
              <a:latin typeface="Open Sans"/>
              <a:ea typeface="Open Sans"/>
              <a:cs typeface="Open Sans"/>
            </a:endParaRPr>
          </a:p>
          <a:p>
            <a:pPr algn="just">
              <a:buClr>
                <a:srgbClr val="0097A7"/>
              </a:buClr>
            </a:pPr>
            <a:endParaRPr lang="pt-PT" sz="1600">
              <a:solidFill>
                <a:srgbClr val="333333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 algn="just">
              <a:buClr>
                <a:srgbClr val="0097A7"/>
              </a:buClr>
              <a:buFont typeface="Arial" panose="020B0604020202020204" pitchFamily="34" charset="0"/>
              <a:buChar char="•"/>
            </a:pPr>
            <a:r>
              <a:rPr lang="pt-PT" sz="1600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Os Preços no Produtor (com desfasamento de 5 meses) captura a transmissão de choques externos à economia portuguesa.</a:t>
            </a:r>
          </a:p>
          <a:p>
            <a:pPr marL="285750" indent="-285750" algn="just">
              <a:buClr>
                <a:srgbClr val="0097A7"/>
              </a:buClr>
              <a:buFont typeface="Arial" panose="020B0604020202020204" pitchFamily="34" charset="0"/>
              <a:buChar char="•"/>
            </a:pPr>
            <a:endParaRPr lang="pt-PT" sz="1600">
              <a:solidFill>
                <a:srgbClr val="333333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 algn="just">
              <a:buClr>
                <a:srgbClr val="0097A7"/>
              </a:buClr>
              <a:buFont typeface="Arial" panose="020B0604020202020204" pitchFamily="34" charset="0"/>
              <a:buChar char="•"/>
            </a:pPr>
            <a:r>
              <a:rPr lang="pt-PT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O Índice de Incerteza Política (</a:t>
            </a:r>
            <a:r>
              <a:rPr lang="pt-PT" sz="1600" i="1" err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lag</a:t>
            </a:r>
            <a:r>
              <a:rPr lang="pt-PT" sz="160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6) e o Índice de Confiança do Consumidor apresentam coeficientes negativos. A sua inclusão melhora o desempenho preditivo dos modelos.</a:t>
            </a:r>
          </a:p>
          <a:p>
            <a:endParaRPr lang="en-US" sz="16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16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pt-PT" sz="16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761695" y="676655"/>
            <a:ext cx="3240000" cy="72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Conclusões</a:t>
            </a:r>
            <a:endParaRPr lang="en-US" sz="4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0" name="Image 1" descr="gen-dedup-44d113b94a040fa597d5956dbb209098.png">
            <a:extLst>
              <a:ext uri="{FF2B5EF4-FFF2-40B4-BE49-F238E27FC236}">
                <a16:creationId xmlns:a16="http://schemas.microsoft.com/office/drawing/2014/main" id="{E4F78604-A4FF-6492-4D46-E924CA33F2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9" r="1239"/>
          <a:stretch/>
        </p:blipFill>
        <p:spPr>
          <a:xfrm>
            <a:off x="-2287" y="-10758"/>
            <a:ext cx="1478585" cy="444184"/>
          </a:xfrm>
          <a:prstGeom prst="rect">
            <a:avLst/>
          </a:prstGeom>
        </p:spPr>
      </p:pic>
      <p:sp>
        <p:nvSpPr>
          <p:cNvPr id="39" name="Text 24">
            <a:extLst>
              <a:ext uri="{FF2B5EF4-FFF2-40B4-BE49-F238E27FC236}">
                <a16:creationId xmlns:a16="http://schemas.microsoft.com/office/drawing/2014/main" id="{80B643DE-8481-D63F-9D74-6B7A6F923E31}"/>
              </a:ext>
            </a:extLst>
          </p:cNvPr>
          <p:cNvSpPr txBox="1"/>
          <p:nvPr/>
        </p:nvSpPr>
        <p:spPr>
          <a:xfrm>
            <a:off x="11525098" y="6381598"/>
            <a:ext cx="286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17</a:t>
            </a: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A1ED3182-4FE7-CBDE-24D8-2AF71CCFA0D3}"/>
              </a:ext>
            </a:extLst>
          </p:cNvPr>
          <p:cNvSpPr txBox="1"/>
          <p:nvPr/>
        </p:nvSpPr>
        <p:spPr>
          <a:xfrm>
            <a:off x="11157172" y="156667"/>
            <a:ext cx="660197" cy="55321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05</a:t>
            </a:r>
            <a:endParaRPr lang="en-US" sz="3900">
              <a:solidFill>
                <a:srgbClr val="0E2A47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F6564-F1ED-AA96-2D92-E8F0081E0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BFD468-D31D-C337-23EF-9706DA3A2E5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E9D31FB-EA67-DFC0-F4D6-7225E5AE852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9D34390-9182-5BB7-D431-C877357FA5FE}"/>
              </a:ext>
            </a:extLst>
          </p:cNvPr>
          <p:cNvSpPr/>
          <p:nvPr/>
        </p:nvSpPr>
        <p:spPr>
          <a:xfrm>
            <a:off x="12001500" y="0"/>
            <a:ext cx="190195" cy="6858000"/>
          </a:xfrm>
          <a:prstGeom prst="rect">
            <a:avLst/>
          </a:prstGeom>
          <a:solidFill>
            <a:srgbClr val="0E2A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65F06ADB-2922-8A80-99CC-E1CC56A06BF9}"/>
              </a:ext>
            </a:extLst>
          </p:cNvPr>
          <p:cNvSpPr/>
          <p:nvPr/>
        </p:nvSpPr>
        <p:spPr>
          <a:xfrm>
            <a:off x="734153" y="1800521"/>
            <a:ext cx="9382086" cy="4000434"/>
          </a:xfrm>
          <a:prstGeom prst="roundRect">
            <a:avLst>
              <a:gd name="adj" fmla="val 3517"/>
            </a:avLst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F78AEC63-ECFD-6675-D416-49294657E117}"/>
              </a:ext>
            </a:extLst>
          </p:cNvPr>
          <p:cNvSpPr txBox="1"/>
          <p:nvPr/>
        </p:nvSpPr>
        <p:spPr>
          <a:xfrm>
            <a:off x="761695" y="676655"/>
            <a:ext cx="5040000" cy="72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Trabalhos</a:t>
            </a:r>
            <a:r>
              <a:rPr lang="en-US" sz="40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40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Futuros</a:t>
            </a:r>
            <a:endParaRPr lang="en-US" sz="4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D9F0578B-A7C4-E344-95EB-98C01DCE45E1}"/>
              </a:ext>
            </a:extLst>
          </p:cNvPr>
          <p:cNvSpPr txBox="1"/>
          <p:nvPr/>
        </p:nvSpPr>
        <p:spPr>
          <a:xfrm>
            <a:off x="990164" y="2050332"/>
            <a:ext cx="8753649" cy="349664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just"/>
            <a:r>
              <a:rPr lang="en-US" sz="1600" b="1" i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F</a:t>
            </a:r>
            <a:r>
              <a:rPr lang="en-US" b="1" i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orecast Combination</a:t>
            </a:r>
            <a:r>
              <a:rPr lang="en-US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: </a:t>
            </a:r>
            <a:r>
              <a:rPr lang="pt-PT">
                <a:latin typeface="Open Sans"/>
                <a:ea typeface="Open Sans"/>
                <a:cs typeface="Open Sans"/>
              </a:rPr>
              <a:t>Combinar as previsões dos modelos (Ridge, LightGBM, ARIMA e CC-VAR) numa previsão </a:t>
            </a:r>
            <a:r>
              <a:rPr lang="pt-PT" i="1">
                <a:latin typeface="Open Sans"/>
                <a:ea typeface="Open Sans"/>
                <a:cs typeface="Open Sans"/>
              </a:rPr>
              <a:t>ensemble</a:t>
            </a:r>
            <a:r>
              <a:rPr lang="pt-PT">
                <a:latin typeface="Open Sans"/>
                <a:ea typeface="Open Sans"/>
                <a:cs typeface="Open Sans"/>
              </a:rPr>
              <a:t> ponderada</a:t>
            </a:r>
            <a:r>
              <a:rPr lang="en-US">
                <a:latin typeface="Open Sans"/>
                <a:ea typeface="Open Sans"/>
                <a:cs typeface="Open Sans"/>
              </a:rPr>
              <a:t>.</a:t>
            </a:r>
            <a:endParaRPr lang="pt-PT">
              <a:latin typeface="Open Sans"/>
              <a:ea typeface="Open Sans"/>
              <a:cs typeface="Open Sans"/>
            </a:endParaRPr>
          </a:p>
          <a:p>
            <a:pPr algn="just"/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endParaRPr lang="en-US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just"/>
            <a:r>
              <a:rPr lang="en-US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NLP: </a:t>
            </a:r>
            <a:r>
              <a:rPr lang="en-US" err="1">
                <a:latin typeface="Open Sans"/>
                <a:ea typeface="Open Sans"/>
                <a:cs typeface="Open Sans"/>
              </a:rPr>
              <a:t>Integração</a:t>
            </a:r>
            <a:r>
              <a:rPr lang="en-US">
                <a:latin typeface="Open Sans"/>
                <a:ea typeface="Open Sans"/>
                <a:cs typeface="Open Sans"/>
              </a:rPr>
              <a:t> de </a:t>
            </a:r>
            <a:r>
              <a:rPr lang="en-US" err="1">
                <a:latin typeface="Open Sans"/>
                <a:ea typeface="Open Sans"/>
                <a:cs typeface="Open Sans"/>
              </a:rPr>
              <a:t>sentimento</a:t>
            </a:r>
            <a:r>
              <a:rPr lang="en-US">
                <a:latin typeface="Open Sans"/>
                <a:ea typeface="Open Sans"/>
                <a:cs typeface="Open Sans"/>
              </a:rPr>
              <a:t> textual para </a:t>
            </a:r>
            <a:r>
              <a:rPr lang="en-US" err="1">
                <a:latin typeface="Open Sans"/>
                <a:ea typeface="Open Sans"/>
                <a:cs typeface="Open Sans"/>
              </a:rPr>
              <a:t>captar</a:t>
            </a:r>
            <a:r>
              <a:rPr lang="en-US"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latin typeface="Open Sans"/>
                <a:ea typeface="Open Sans"/>
                <a:cs typeface="Open Sans"/>
              </a:rPr>
              <a:t>sinais</a:t>
            </a:r>
            <a:r>
              <a:rPr lang="en-US">
                <a:latin typeface="Open Sans"/>
                <a:ea typeface="Open Sans"/>
                <a:cs typeface="Open Sans"/>
              </a:rPr>
              <a:t> de </a:t>
            </a:r>
            <a:r>
              <a:rPr lang="en-US" err="1">
                <a:latin typeface="Open Sans"/>
                <a:ea typeface="Open Sans"/>
                <a:cs typeface="Open Sans"/>
              </a:rPr>
              <a:t>pressão</a:t>
            </a:r>
            <a:r>
              <a:rPr lang="en-US"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latin typeface="Open Sans"/>
                <a:ea typeface="Open Sans"/>
                <a:cs typeface="Open Sans"/>
              </a:rPr>
              <a:t>inflacionista</a:t>
            </a:r>
            <a:r>
              <a:rPr lang="en-US">
                <a:latin typeface="Open Sans"/>
                <a:ea typeface="Open Sans"/>
                <a:cs typeface="Open Sans"/>
              </a:rPr>
              <a:t> com </a:t>
            </a:r>
            <a:r>
              <a:rPr lang="en-US" err="1">
                <a:latin typeface="Open Sans"/>
                <a:ea typeface="Open Sans"/>
                <a:cs typeface="Open Sans"/>
              </a:rPr>
              <a:t>maior</a:t>
            </a:r>
            <a:r>
              <a:rPr lang="en-US"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latin typeface="Open Sans"/>
                <a:ea typeface="Open Sans"/>
                <a:cs typeface="Open Sans"/>
              </a:rPr>
              <a:t>antecedência</a:t>
            </a:r>
            <a:r>
              <a:rPr lang="en-US">
                <a:latin typeface="Open Sans"/>
                <a:ea typeface="Open Sans"/>
                <a:cs typeface="Open Sans"/>
              </a:rPr>
              <a:t> do </a:t>
            </a:r>
            <a:r>
              <a:rPr lang="en-US" err="1">
                <a:latin typeface="Open Sans"/>
                <a:ea typeface="Open Sans"/>
                <a:cs typeface="Open Sans"/>
              </a:rPr>
              <a:t>que</a:t>
            </a:r>
            <a:r>
              <a:rPr lang="en-US"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latin typeface="Open Sans"/>
                <a:ea typeface="Open Sans"/>
                <a:cs typeface="Open Sans"/>
              </a:rPr>
              <a:t>os</a:t>
            </a:r>
            <a:r>
              <a:rPr lang="en-US"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latin typeface="Open Sans"/>
                <a:ea typeface="Open Sans"/>
                <a:cs typeface="Open Sans"/>
              </a:rPr>
              <a:t>indicadores</a:t>
            </a:r>
            <a:r>
              <a:rPr lang="en-US"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latin typeface="Open Sans"/>
                <a:ea typeface="Open Sans"/>
                <a:cs typeface="Open Sans"/>
              </a:rPr>
              <a:t>macroeconómicos</a:t>
            </a:r>
            <a:r>
              <a:rPr lang="en-US">
                <a:latin typeface="Open Sans"/>
                <a:ea typeface="Open Sans"/>
                <a:cs typeface="Open Sans"/>
              </a:rPr>
              <a:t> </a:t>
            </a:r>
            <a:r>
              <a:rPr lang="en-US" err="1">
                <a:latin typeface="Open Sans"/>
                <a:ea typeface="Open Sans"/>
                <a:cs typeface="Open Sans"/>
              </a:rPr>
              <a:t>convencionais</a:t>
            </a:r>
            <a:r>
              <a:rPr lang="en-US">
                <a:latin typeface="Open Sans"/>
                <a:ea typeface="Open Sans"/>
                <a:cs typeface="Open Sans"/>
              </a:rPr>
              <a:t>.</a:t>
            </a:r>
          </a:p>
          <a:p>
            <a:pPr algn="just"/>
            <a:endParaRPr lang="en-US">
              <a:latin typeface="Open Sans"/>
              <a:ea typeface="Open Sans"/>
              <a:cs typeface="Open Sans"/>
            </a:endParaRPr>
          </a:p>
          <a:p>
            <a:pPr algn="just"/>
            <a:endParaRPr lang="en-US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just"/>
            <a:endParaRPr lang="en-US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algn="just"/>
            <a:r>
              <a:rPr lang="en-US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Atualização</a:t>
            </a:r>
            <a:r>
              <a:rPr lang="en-US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automática</a:t>
            </a:r>
            <a:r>
              <a:rPr lang="en-US" b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 do </a:t>
            </a:r>
            <a:r>
              <a:rPr lang="en-US" b="1" err="1">
                <a:solidFill>
                  <a:srgbClr val="0097A7"/>
                </a:solidFill>
                <a:latin typeface="Open Sans"/>
                <a:ea typeface="Open Sans"/>
                <a:cs typeface="Open Sans"/>
              </a:rPr>
              <a:t>modelo</a:t>
            </a:r>
            <a:r>
              <a:rPr lang="en-US" b="1">
                <a:solidFill>
                  <a:srgbClr val="0097A7"/>
                </a:solidFill>
                <a:ea typeface="+mn-lt"/>
                <a:cs typeface="+mn-lt"/>
              </a:rPr>
              <a:t>:</a:t>
            </a:r>
            <a:r>
              <a:rPr lang="en-US">
                <a:ea typeface="+mn-lt"/>
                <a:cs typeface="+mn-lt"/>
              </a:rPr>
              <a:t> re-</a:t>
            </a:r>
            <a:r>
              <a:rPr lang="en-US" err="1">
                <a:ea typeface="+mn-lt"/>
                <a:cs typeface="+mn-lt"/>
              </a:rPr>
              <a:t>treino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periódico</a:t>
            </a:r>
            <a:r>
              <a:rPr lang="en-US">
                <a:ea typeface="+mn-lt"/>
                <a:cs typeface="+mn-lt"/>
              </a:rPr>
              <a:t> com </a:t>
            </a:r>
            <a:r>
              <a:rPr lang="en-US" err="1">
                <a:ea typeface="+mn-lt"/>
                <a:cs typeface="+mn-lt"/>
              </a:rPr>
              <a:t>novos</a:t>
            </a:r>
            <a:r>
              <a:rPr lang="en-US">
                <a:ea typeface="+mn-lt"/>
                <a:cs typeface="+mn-lt"/>
              </a:rPr>
              <a:t> dados à </a:t>
            </a:r>
            <a:r>
              <a:rPr lang="en-US" err="1">
                <a:ea typeface="+mn-lt"/>
                <a:cs typeface="+mn-lt"/>
              </a:rPr>
              <a:t>medida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que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ficam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disponíveis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mantendo</a:t>
            </a:r>
            <a:r>
              <a:rPr lang="en-US">
                <a:ea typeface="+mn-lt"/>
                <a:cs typeface="+mn-lt"/>
              </a:rPr>
              <a:t> o </a:t>
            </a:r>
            <a:r>
              <a:rPr lang="en-US" err="1">
                <a:ea typeface="+mn-lt"/>
                <a:cs typeface="+mn-lt"/>
              </a:rPr>
              <a:t>modelo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atualizado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em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produção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</p:txBody>
      </p:sp>
      <p:pic>
        <p:nvPicPr>
          <p:cNvPr id="40" name="Image 1" descr="gen-dedup-44d113b94a040fa597d5956dbb209098.png">
            <a:extLst>
              <a:ext uri="{FF2B5EF4-FFF2-40B4-BE49-F238E27FC236}">
                <a16:creationId xmlns:a16="http://schemas.microsoft.com/office/drawing/2014/main" id="{691E6E94-9213-A87D-3BCA-1B7564CA27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9" r="1239"/>
          <a:stretch/>
        </p:blipFill>
        <p:spPr>
          <a:xfrm>
            <a:off x="-2287" y="-10758"/>
            <a:ext cx="1478585" cy="444184"/>
          </a:xfrm>
          <a:prstGeom prst="rect">
            <a:avLst/>
          </a:prstGeom>
        </p:spPr>
      </p:pic>
      <p:sp>
        <p:nvSpPr>
          <p:cNvPr id="39" name="Text 24">
            <a:extLst>
              <a:ext uri="{FF2B5EF4-FFF2-40B4-BE49-F238E27FC236}">
                <a16:creationId xmlns:a16="http://schemas.microsoft.com/office/drawing/2014/main" id="{6EAD2475-BB32-9ED4-7016-09177EDA5462}"/>
              </a:ext>
            </a:extLst>
          </p:cNvPr>
          <p:cNvSpPr txBox="1"/>
          <p:nvPr/>
        </p:nvSpPr>
        <p:spPr>
          <a:xfrm>
            <a:off x="11525098" y="6381598"/>
            <a:ext cx="286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18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DF8317AE-D1A3-1B23-24FA-DEF3CE4A63F9}"/>
              </a:ext>
            </a:extLst>
          </p:cNvPr>
          <p:cNvSpPr txBox="1"/>
          <p:nvPr/>
        </p:nvSpPr>
        <p:spPr>
          <a:xfrm>
            <a:off x="11157172" y="156667"/>
            <a:ext cx="660197" cy="55321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05</a:t>
            </a:r>
            <a:endParaRPr lang="en-US" sz="3900">
              <a:solidFill>
                <a:srgbClr val="0E2A47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99394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F2516-7DB1-4051-C0BF-B3BD5D1B4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5BB9F7D-E564-5336-CB30-7AE46041561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482EDA4-577F-1A85-4599-B839C6D3B94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EE1D2C-6E90-9250-6D18-66C4B5A62150}"/>
              </a:ext>
            </a:extLst>
          </p:cNvPr>
          <p:cNvSpPr/>
          <p:nvPr/>
        </p:nvSpPr>
        <p:spPr>
          <a:xfrm>
            <a:off x="12001500" y="0"/>
            <a:ext cx="190195" cy="6858000"/>
          </a:xfrm>
          <a:prstGeom prst="rect">
            <a:avLst/>
          </a:prstGeom>
          <a:solidFill>
            <a:srgbClr val="0E2A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28D7D39-01EA-38DD-0EF8-251DCF8B704F}"/>
              </a:ext>
            </a:extLst>
          </p:cNvPr>
          <p:cNvSpPr/>
          <p:nvPr/>
        </p:nvSpPr>
        <p:spPr>
          <a:xfrm>
            <a:off x="769314" y="1548377"/>
            <a:ext cx="10800000" cy="553212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 lIns="91440" tIns="45720" rIns="91440" bIns="45720" anchor="ctr"/>
          <a:lstStyle/>
          <a:p>
            <a:r>
              <a:rPr lang="pt-PT" sz="1600"/>
              <a:t>Banco de Portugal. (2026, janeiro 14). </a:t>
            </a:r>
            <a:r>
              <a:rPr lang="pt-PT" sz="1600" i="1"/>
              <a:t>IPC total-taxa de variação homóloga</a:t>
            </a:r>
            <a:r>
              <a:rPr lang="pt-PT" sz="1600"/>
              <a:t>. </a:t>
            </a:r>
            <a:r>
              <a:rPr lang="pt-PT" sz="1600" err="1"/>
              <a:t>BPstat</a:t>
            </a:r>
            <a:r>
              <a:rPr lang="pt-PT" sz="1600"/>
              <a:t>. </a:t>
            </a:r>
            <a:r>
              <a:rPr lang="pt-PT" sz="1600" err="1"/>
              <a:t>Retrieved</a:t>
            </a:r>
            <a:r>
              <a:rPr lang="pt-PT" sz="1600"/>
              <a:t> fevereiro 24, 2026, </a:t>
            </a:r>
            <a:r>
              <a:rPr lang="pt-PT" sz="1600" err="1"/>
              <a:t>from</a:t>
            </a:r>
            <a:r>
              <a:rPr lang="pt-PT" sz="1600"/>
              <a:t> </a:t>
            </a:r>
            <a:r>
              <a:rPr lang="pt-PT" sz="1600">
                <a:hlinkClick r:id="rId3"/>
              </a:rPr>
              <a:t>https://bpstat.bportugal.pt/serie/5721524</a:t>
            </a:r>
            <a:endParaRPr lang="pt-PT" sz="16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13DAF45-78BF-8C6F-BB3F-D18A485DCE58}"/>
              </a:ext>
            </a:extLst>
          </p:cNvPr>
          <p:cNvSpPr/>
          <p:nvPr/>
        </p:nvSpPr>
        <p:spPr>
          <a:xfrm>
            <a:off x="769314" y="1550917"/>
            <a:ext cx="57607" cy="540000"/>
          </a:xfrm>
          <a:prstGeom prst="roundRect">
            <a:avLst>
              <a:gd name="adj" fmla="val 133668"/>
            </a:avLst>
          </a:prstGeom>
          <a:solidFill>
            <a:srgbClr val="0E2A47"/>
          </a:solidFill>
          <a:ln w="12700">
            <a:solidFill>
              <a:srgbClr val="0E2A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FC2DE8B-477D-7321-4E6B-5D608A676742}"/>
              </a:ext>
            </a:extLst>
          </p:cNvPr>
          <p:cNvSpPr/>
          <p:nvPr/>
        </p:nvSpPr>
        <p:spPr>
          <a:xfrm>
            <a:off x="769314" y="2241309"/>
            <a:ext cx="10800000" cy="900000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 anchor="ctr"/>
          <a:lstStyle/>
          <a:p>
            <a:r>
              <a:rPr lang="pt-PT" sz="1600" err="1"/>
              <a:t>Barigozzi</a:t>
            </a:r>
            <a:r>
              <a:rPr lang="pt-PT" sz="1600"/>
              <a:t>, M., </a:t>
            </a:r>
            <a:r>
              <a:rPr lang="pt-PT" sz="1600" err="1"/>
              <a:t>Lissona</a:t>
            </a:r>
            <a:r>
              <a:rPr lang="pt-PT" sz="1600"/>
              <a:t>, C., &amp; </a:t>
            </a:r>
            <a:r>
              <a:rPr lang="pt-PT" sz="1600" err="1"/>
              <a:t>Tonni</a:t>
            </a:r>
            <a:r>
              <a:rPr lang="pt-PT" sz="1600"/>
              <a:t>, L. (2026, fevereiro 27). </a:t>
            </a:r>
            <a:r>
              <a:rPr lang="en-GB" sz="1600"/>
              <a:t>EA-MD-QD: Large Euro Area and Euro Member Countries Datasets for Macroeconomic Research. </a:t>
            </a:r>
            <a:r>
              <a:rPr lang="pt-PT" sz="1600" err="1"/>
              <a:t>Zenodo</a:t>
            </a:r>
            <a:r>
              <a:rPr lang="pt-PT" sz="1600"/>
              <a:t>. </a:t>
            </a:r>
            <a:r>
              <a:rPr lang="pt-PT" sz="1600" err="1"/>
              <a:t>Retrieved</a:t>
            </a:r>
            <a:r>
              <a:rPr lang="pt-PT" sz="1600"/>
              <a:t> fevereiro 25, 2026, </a:t>
            </a:r>
            <a:r>
              <a:rPr lang="pt-PT" sz="1600" err="1"/>
              <a:t>from</a:t>
            </a:r>
            <a:r>
              <a:rPr lang="pt-PT" sz="1600"/>
              <a:t> </a:t>
            </a:r>
            <a:r>
              <a:rPr lang="pt-PT" sz="1600">
                <a:hlinkClick r:id="rId4"/>
              </a:rPr>
              <a:t>https://zenodo.org/records/18804061</a:t>
            </a:r>
            <a:endParaRPr lang="pt-PT"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EA241FC-04CD-DD3A-E5A8-1B75BC6802B3}"/>
              </a:ext>
            </a:extLst>
          </p:cNvPr>
          <p:cNvSpPr/>
          <p:nvPr/>
        </p:nvSpPr>
        <p:spPr>
          <a:xfrm>
            <a:off x="769316" y="2241309"/>
            <a:ext cx="57607" cy="900000"/>
          </a:xfrm>
          <a:prstGeom prst="roundRect">
            <a:avLst>
              <a:gd name="adj" fmla="val 133668"/>
            </a:avLst>
          </a:prstGeom>
          <a:solidFill>
            <a:srgbClr val="0E2A47"/>
          </a:solidFill>
          <a:ln w="12700">
            <a:solidFill>
              <a:srgbClr val="0E2A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5D59AE8-E351-4EDF-0E86-9DC12B1138CE}"/>
              </a:ext>
            </a:extLst>
          </p:cNvPr>
          <p:cNvSpPr/>
          <p:nvPr/>
        </p:nvSpPr>
        <p:spPr>
          <a:xfrm>
            <a:off x="769314" y="3916853"/>
            <a:ext cx="10800000" cy="540000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 anchor="ctr"/>
          <a:lstStyle/>
          <a:p>
            <a:r>
              <a:rPr lang="en-US" sz="1600"/>
              <a:t>Morão, H. (2024). </a:t>
            </a:r>
            <a:r>
              <a:rPr lang="en-US" sz="1600" i="1"/>
              <a:t>An economic policy uncertainty index for Portugal</a:t>
            </a:r>
            <a:r>
              <a:rPr lang="en-US" sz="1600"/>
              <a:t>. ScienceDirect. Retrieved </a:t>
            </a:r>
            <a:r>
              <a:rPr lang="en-US" sz="1600" err="1"/>
              <a:t>fevereiro</a:t>
            </a:r>
            <a:r>
              <a:rPr lang="en-US" sz="1600"/>
              <a:t> 21, 2026, from </a:t>
            </a:r>
            <a:r>
              <a:rPr lang="en-US" sz="1600">
                <a:hlinkClick r:id="rId5"/>
              </a:rPr>
              <a:t>https://www.sciencedirect.com/science/article/pii/S2110701724000040</a:t>
            </a:r>
            <a:endParaRPr lang="en-US" sz="16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8B0C258-4BFD-2D39-4A67-8A58A6F4249C}"/>
              </a:ext>
            </a:extLst>
          </p:cNvPr>
          <p:cNvSpPr/>
          <p:nvPr/>
        </p:nvSpPr>
        <p:spPr>
          <a:xfrm>
            <a:off x="769463" y="3917260"/>
            <a:ext cx="57607" cy="540000"/>
          </a:xfrm>
          <a:prstGeom prst="roundRect">
            <a:avLst>
              <a:gd name="adj" fmla="val 133668"/>
            </a:avLst>
          </a:prstGeom>
          <a:solidFill>
            <a:srgbClr val="0E2A47"/>
          </a:solidFill>
          <a:ln w="12700">
            <a:solidFill>
              <a:srgbClr val="0E2A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A3D741B7-064C-A748-0529-F9AB65EA825C}"/>
              </a:ext>
            </a:extLst>
          </p:cNvPr>
          <p:cNvSpPr/>
          <p:nvPr/>
        </p:nvSpPr>
        <p:spPr>
          <a:xfrm>
            <a:off x="769314" y="4559416"/>
            <a:ext cx="10800000" cy="720000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 anchor="ctr"/>
          <a:lstStyle/>
          <a:p>
            <a:r>
              <a:rPr lang="en-US" sz="1600"/>
              <a:t>Ng, S., &amp; McCracken, M. W. (n.d.). </a:t>
            </a:r>
            <a:r>
              <a:rPr lang="en-US" sz="1600" i="1"/>
              <a:t>FRED-MD and FRED-QD: Monthly and Quarterly Databases for Macroeconomic Research</a:t>
            </a:r>
            <a:r>
              <a:rPr lang="en-US" sz="1600"/>
              <a:t>. Federal Reserve Bank of St. Louis. Retrieved </a:t>
            </a:r>
            <a:r>
              <a:rPr lang="en-US" sz="1600" err="1"/>
              <a:t>fevereiro</a:t>
            </a:r>
            <a:r>
              <a:rPr lang="en-US" sz="1600"/>
              <a:t> 16, 2026, from </a:t>
            </a:r>
            <a:r>
              <a:rPr lang="en-US" sz="1600">
                <a:hlinkClick r:id="rId6"/>
              </a:rPr>
              <a:t>https://www.stlouisfed.org/research/economists/mccracken/fred-databases</a:t>
            </a:r>
            <a:endParaRPr lang="en-US" sz="160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879C75C-781C-2714-6391-57CD7AE3571E}"/>
              </a:ext>
            </a:extLst>
          </p:cNvPr>
          <p:cNvSpPr/>
          <p:nvPr/>
        </p:nvSpPr>
        <p:spPr>
          <a:xfrm>
            <a:off x="769316" y="4559416"/>
            <a:ext cx="57607" cy="720000"/>
          </a:xfrm>
          <a:prstGeom prst="roundRect">
            <a:avLst>
              <a:gd name="adj" fmla="val 133668"/>
            </a:avLst>
          </a:prstGeom>
          <a:solidFill>
            <a:srgbClr val="0E2A47"/>
          </a:solidFill>
          <a:ln w="12700">
            <a:solidFill>
              <a:srgbClr val="0E2A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21EF9A03-745D-868A-474B-4050A4702A3E}"/>
              </a:ext>
            </a:extLst>
          </p:cNvPr>
          <p:cNvSpPr txBox="1"/>
          <p:nvPr/>
        </p:nvSpPr>
        <p:spPr>
          <a:xfrm>
            <a:off x="761695" y="676655"/>
            <a:ext cx="7920000" cy="72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Referências</a:t>
            </a:r>
            <a:endParaRPr lang="pt-PT" err="1"/>
          </a:p>
        </p:txBody>
      </p:sp>
      <p:pic>
        <p:nvPicPr>
          <p:cNvPr id="40" name="Image 1" descr="gen-dedup-44d113b94a040fa597d5956dbb209098.png">
            <a:extLst>
              <a:ext uri="{FF2B5EF4-FFF2-40B4-BE49-F238E27FC236}">
                <a16:creationId xmlns:a16="http://schemas.microsoft.com/office/drawing/2014/main" id="{80E4E77E-59A7-F388-54FD-F2A59CBA994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239" r="1239"/>
          <a:stretch/>
        </p:blipFill>
        <p:spPr>
          <a:xfrm>
            <a:off x="-2287" y="-10758"/>
            <a:ext cx="1478585" cy="444184"/>
          </a:xfrm>
          <a:prstGeom prst="rect">
            <a:avLst/>
          </a:prstGeom>
        </p:spPr>
      </p:pic>
      <p:sp>
        <p:nvSpPr>
          <p:cNvPr id="39" name="Text 24">
            <a:extLst>
              <a:ext uri="{FF2B5EF4-FFF2-40B4-BE49-F238E27FC236}">
                <a16:creationId xmlns:a16="http://schemas.microsoft.com/office/drawing/2014/main" id="{CBA1E082-12E1-9BFE-C8BC-666AB7625F2C}"/>
              </a:ext>
            </a:extLst>
          </p:cNvPr>
          <p:cNvSpPr txBox="1"/>
          <p:nvPr/>
        </p:nvSpPr>
        <p:spPr>
          <a:xfrm>
            <a:off x="11525098" y="6381598"/>
            <a:ext cx="286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19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BB6B473E-502E-BB62-AF57-79D26CE12A27}"/>
              </a:ext>
            </a:extLst>
          </p:cNvPr>
          <p:cNvSpPr txBox="1"/>
          <p:nvPr/>
        </p:nvSpPr>
        <p:spPr>
          <a:xfrm>
            <a:off x="11157172" y="156667"/>
            <a:ext cx="660197" cy="55321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05</a:t>
            </a:r>
            <a:endParaRPr lang="en-US" sz="3900">
              <a:solidFill>
                <a:srgbClr val="0E2A47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89929625-FF24-0B7E-8297-4EA13F45A2B5}"/>
              </a:ext>
            </a:extLst>
          </p:cNvPr>
          <p:cNvSpPr/>
          <p:nvPr/>
        </p:nvSpPr>
        <p:spPr>
          <a:xfrm>
            <a:off x="761392" y="5386274"/>
            <a:ext cx="10800000" cy="990000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 anchor="ctr"/>
          <a:lstStyle/>
          <a:p>
            <a:r>
              <a:rPr lang="en-US" sz="1600" err="1"/>
              <a:t>Organisation</a:t>
            </a:r>
            <a:r>
              <a:rPr lang="en-US" sz="1600"/>
              <a:t> for Economic Co-operation and Development (OECD). (n.d.). </a:t>
            </a:r>
            <a:r>
              <a:rPr lang="en-US" sz="1600" i="1" err="1"/>
              <a:t>Labour</a:t>
            </a:r>
            <a:r>
              <a:rPr lang="en-US" sz="1600" i="1"/>
              <a:t> force statistics – unemployment rate</a:t>
            </a:r>
            <a:r>
              <a:rPr lang="en-US" sz="1600"/>
              <a:t>. OECD Data Explorer. Retrieved </a:t>
            </a:r>
            <a:r>
              <a:rPr lang="en-US" sz="1600" err="1"/>
              <a:t>fevereiro</a:t>
            </a:r>
            <a:r>
              <a:rPr lang="en-US" sz="1600"/>
              <a:t> 24, 2026, from </a:t>
            </a:r>
            <a:r>
              <a:rPr lang="en-US" sz="1600">
                <a:hlinkClick r:id="rId8"/>
              </a:rPr>
              <a:t>https://data-explorer.oecd.org/</a:t>
            </a:r>
            <a:r>
              <a:rPr lang="en-US" sz="1600" err="1">
                <a:hlinkClick r:id="rId8"/>
              </a:rPr>
              <a:t>vis?df</a:t>
            </a:r>
            <a:r>
              <a:rPr lang="en-US" sz="1600">
                <a:hlinkClick r:id="rId8"/>
              </a:rPr>
              <a:t>[ds]=</a:t>
            </a:r>
            <a:r>
              <a:rPr lang="en-US" sz="1600" err="1">
                <a:hlinkClick r:id="rId8"/>
              </a:rPr>
              <a:t>dsDisseminateFinalDMZ&amp;df</a:t>
            </a:r>
            <a:r>
              <a:rPr lang="en-US" sz="1600">
                <a:hlinkClick r:id="rId8"/>
              </a:rPr>
              <a:t>[id]=DSD_LFS%40DF_IALFS_UNE_M&amp;df[ag]=</a:t>
            </a:r>
            <a:r>
              <a:rPr lang="en-US" sz="1600" err="1">
                <a:hlinkClick r:id="rId8"/>
              </a:rPr>
              <a:t>OECD.SDD.TPS&amp;df</a:t>
            </a:r>
            <a:r>
              <a:rPr lang="en-US" sz="1600">
                <a:hlinkClick r:id="rId8"/>
              </a:rPr>
              <a:t>[vs]=1.0&amp;pd=%2C&amp;dq=PRT..._Z.Y._T.Y_GE15..M&amp;ly[cl]=</a:t>
            </a:r>
            <a:r>
              <a:rPr lang="en-US" sz="1600" err="1">
                <a:hlinkClick r:id="rId8"/>
              </a:rPr>
              <a:t>TIME_PERIOD&amp;to</a:t>
            </a:r>
            <a:r>
              <a:rPr lang="en-US" sz="1600">
                <a:hlinkClick r:id="rId8"/>
              </a:rPr>
              <a:t>[TIME_PERIOD]=</a:t>
            </a:r>
            <a:r>
              <a:rPr lang="en-US" sz="1600" err="1">
                <a:hlinkClick r:id="rId8"/>
              </a:rPr>
              <a:t>false&amp;vw</a:t>
            </a:r>
            <a:r>
              <a:rPr lang="en-US" sz="1600">
                <a:hlinkClick r:id="rId8"/>
              </a:rPr>
              <a:t>=tb</a:t>
            </a:r>
            <a:endParaRPr lang="en-US" sz="160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6C6F3585-82D2-90CE-0263-12BCCB11A337}"/>
              </a:ext>
            </a:extLst>
          </p:cNvPr>
          <p:cNvSpPr/>
          <p:nvPr/>
        </p:nvSpPr>
        <p:spPr>
          <a:xfrm>
            <a:off x="769315" y="5393708"/>
            <a:ext cx="57607" cy="990000"/>
          </a:xfrm>
          <a:prstGeom prst="roundRect">
            <a:avLst>
              <a:gd name="adj" fmla="val 133668"/>
            </a:avLst>
          </a:prstGeom>
          <a:solidFill>
            <a:srgbClr val="0E2A47"/>
          </a:solidFill>
          <a:ln w="12700">
            <a:solidFill>
              <a:srgbClr val="0E2A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A3924F9A-7F81-EA0E-FEEC-8BEFCDBA94F8}"/>
              </a:ext>
            </a:extLst>
          </p:cNvPr>
          <p:cNvSpPr/>
          <p:nvPr/>
        </p:nvSpPr>
        <p:spPr>
          <a:xfrm>
            <a:off x="769314" y="3224071"/>
            <a:ext cx="10800000" cy="540000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3000"/>
              </a:srgbClr>
            </a:outerShdw>
          </a:effectLst>
        </p:spPr>
        <p:txBody>
          <a:bodyPr anchor="ctr"/>
          <a:lstStyle/>
          <a:p>
            <a:r>
              <a:rPr lang="pt-PT" sz="1600" err="1"/>
              <a:t>EconDB</a:t>
            </a:r>
            <a:r>
              <a:rPr lang="pt-PT" sz="1600"/>
              <a:t>. (n.d.). </a:t>
            </a:r>
            <a:r>
              <a:rPr lang="pt-PT" sz="1600" i="1"/>
              <a:t>Portugal – </a:t>
            </a:r>
            <a:r>
              <a:rPr lang="pt-PT" sz="1600" i="1" err="1"/>
              <a:t>Producer</a:t>
            </a:r>
            <a:r>
              <a:rPr lang="pt-PT" sz="1600" i="1"/>
              <a:t> Price Index</a:t>
            </a:r>
            <a:r>
              <a:rPr lang="pt-PT" sz="1600"/>
              <a:t>. </a:t>
            </a:r>
            <a:r>
              <a:rPr lang="pt-PT" sz="1600" err="1"/>
              <a:t>EconDB</a:t>
            </a:r>
            <a:r>
              <a:rPr lang="pt-PT" sz="1600"/>
              <a:t>. </a:t>
            </a:r>
            <a:r>
              <a:rPr lang="pt-PT" sz="1600" err="1"/>
              <a:t>Retrieved</a:t>
            </a:r>
            <a:r>
              <a:rPr lang="pt-PT" sz="1600"/>
              <a:t> abril 20, 2026, </a:t>
            </a:r>
            <a:r>
              <a:rPr lang="pt-PT" sz="1600" err="1"/>
              <a:t>from</a:t>
            </a:r>
            <a:r>
              <a:rPr lang="pt-PT" sz="1600"/>
              <a:t> </a:t>
            </a:r>
            <a:r>
              <a:rPr lang="pt-PT" sz="1600">
                <a:hlinkClick r:id="rId9"/>
              </a:rPr>
              <a:t>https://www.econdb.com/series/PPIPT~TOYA/portugal-producer-price-index/?from=1999-10-11&amp;to=2026-04-20</a:t>
            </a:r>
            <a:endParaRPr lang="en-US" sz="160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E9B45358-5CCA-FE44-AE36-66013DBCDD3F}"/>
              </a:ext>
            </a:extLst>
          </p:cNvPr>
          <p:cNvSpPr/>
          <p:nvPr/>
        </p:nvSpPr>
        <p:spPr>
          <a:xfrm>
            <a:off x="769463" y="3224478"/>
            <a:ext cx="57607" cy="540000"/>
          </a:xfrm>
          <a:prstGeom prst="roundRect">
            <a:avLst>
              <a:gd name="adj" fmla="val 133668"/>
            </a:avLst>
          </a:prstGeom>
          <a:solidFill>
            <a:srgbClr val="0E2A47"/>
          </a:solidFill>
          <a:ln w="12700">
            <a:solidFill>
              <a:srgbClr val="0E2A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023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EF8EF-3AE8-8EE3-299F-4F121EEA9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FD7CD16-1228-FD22-3929-63366FD9F2B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6DCFBF5-F0D9-5C9E-3E58-B89AD0B743F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6201590-6C94-384F-8891-C40B2FD6C86D}"/>
              </a:ext>
            </a:extLst>
          </p:cNvPr>
          <p:cNvSpPr/>
          <p:nvPr/>
        </p:nvSpPr>
        <p:spPr>
          <a:xfrm>
            <a:off x="12001500" y="0"/>
            <a:ext cx="190195" cy="6858000"/>
          </a:xfrm>
          <a:prstGeom prst="rect">
            <a:avLst/>
          </a:prstGeom>
          <a:solidFill>
            <a:srgbClr val="0E2A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D7178C36-A8A0-D0EF-E1E1-1DC5481E3711}"/>
              </a:ext>
            </a:extLst>
          </p:cNvPr>
          <p:cNvSpPr txBox="1"/>
          <p:nvPr/>
        </p:nvSpPr>
        <p:spPr>
          <a:xfrm>
            <a:off x="2163389" y="2307001"/>
            <a:ext cx="7892458" cy="23472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Obrigado</a:t>
            </a:r>
            <a:r>
              <a:rPr lang="en-US" sz="4400" b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 A Todos!</a:t>
            </a:r>
          </a:p>
          <a:p>
            <a:pPr algn="ctr"/>
            <a:r>
              <a:rPr lang="en-US" sz="2000" b="1" err="1">
                <a:solidFill>
                  <a:schemeClr val="accent1">
                    <a:lumMod val="49000"/>
                  </a:schemeClr>
                </a:solidFill>
                <a:latin typeface="Open Sans"/>
                <a:ea typeface="Open Sans"/>
                <a:cs typeface="Open Sans"/>
              </a:rPr>
              <a:t>Projeto</a:t>
            </a:r>
            <a:r>
              <a:rPr lang="en-US" sz="2000" b="1">
                <a:solidFill>
                  <a:schemeClr val="accent1">
                    <a:lumMod val="49000"/>
                  </a:schemeClr>
                </a:solidFill>
                <a:latin typeface="Open Sans"/>
                <a:ea typeface="Open Sans"/>
                <a:cs typeface="Open Sans"/>
              </a:rPr>
              <a:t> Final </a:t>
            </a:r>
            <a:r>
              <a:rPr lang="en-US" sz="2000" b="1" err="1">
                <a:solidFill>
                  <a:schemeClr val="accent1">
                    <a:lumMod val="49000"/>
                  </a:schemeClr>
                </a:solidFill>
                <a:latin typeface="Open Sans"/>
                <a:ea typeface="Open Sans"/>
                <a:cs typeface="Open Sans"/>
              </a:rPr>
              <a:t>Aplicado</a:t>
            </a:r>
            <a:r>
              <a:rPr lang="en-US" sz="2000" b="1">
                <a:solidFill>
                  <a:schemeClr val="accent1">
                    <a:lumMod val="49000"/>
                  </a:schemeClr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sz="2000" b="1" err="1">
                <a:solidFill>
                  <a:schemeClr val="accent1">
                    <a:lumMod val="49000"/>
                  </a:schemeClr>
                </a:solidFill>
                <a:latin typeface="Open Sans"/>
                <a:ea typeface="Open Sans"/>
                <a:cs typeface="Open Sans"/>
              </a:rPr>
              <a:t>em</a:t>
            </a:r>
            <a:r>
              <a:rPr lang="en-US" sz="2000" b="1">
                <a:solidFill>
                  <a:schemeClr val="accent1">
                    <a:lumMod val="49000"/>
                  </a:schemeClr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000" b="1" err="1">
                <a:solidFill>
                  <a:schemeClr val="accent1">
                    <a:lumMod val="49000"/>
                  </a:schemeClr>
                </a:solidFill>
                <a:latin typeface="Open Sans"/>
                <a:ea typeface="Open Sans"/>
                <a:cs typeface="Open Sans"/>
              </a:rPr>
              <a:t>Ciência</a:t>
            </a:r>
            <a:r>
              <a:rPr lang="en-US" sz="2000" b="1">
                <a:solidFill>
                  <a:schemeClr val="accent1">
                    <a:lumMod val="49000"/>
                  </a:schemeClr>
                </a:solidFill>
                <a:latin typeface="Open Sans"/>
                <a:ea typeface="Open Sans"/>
                <a:cs typeface="Open Sans"/>
              </a:rPr>
              <a:t> de Dados</a:t>
            </a:r>
          </a:p>
        </p:txBody>
      </p:sp>
      <p:pic>
        <p:nvPicPr>
          <p:cNvPr id="40" name="Image 1" descr="gen-dedup-44d113b94a040fa597d5956dbb209098.png">
            <a:extLst>
              <a:ext uri="{FF2B5EF4-FFF2-40B4-BE49-F238E27FC236}">
                <a16:creationId xmlns:a16="http://schemas.microsoft.com/office/drawing/2014/main" id="{B3D62704-4C87-387D-DBBE-3A143B2BC6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9" r="1239"/>
          <a:stretch/>
        </p:blipFill>
        <p:spPr>
          <a:xfrm>
            <a:off x="278450" y="139637"/>
            <a:ext cx="1478585" cy="444184"/>
          </a:xfrm>
          <a:prstGeom prst="rect">
            <a:avLst/>
          </a:prstGeom>
        </p:spPr>
      </p:pic>
      <p:sp>
        <p:nvSpPr>
          <p:cNvPr id="39" name="Text 24">
            <a:extLst>
              <a:ext uri="{FF2B5EF4-FFF2-40B4-BE49-F238E27FC236}">
                <a16:creationId xmlns:a16="http://schemas.microsoft.com/office/drawing/2014/main" id="{AC627920-219C-2D56-9563-750F91EF4A6D}"/>
              </a:ext>
            </a:extLst>
          </p:cNvPr>
          <p:cNvSpPr txBox="1"/>
          <p:nvPr/>
        </p:nvSpPr>
        <p:spPr>
          <a:xfrm>
            <a:off x="11525098" y="6381598"/>
            <a:ext cx="286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D8C9568-A76B-4F72-278D-CA720BE800BE}"/>
              </a:ext>
            </a:extLst>
          </p:cNvPr>
          <p:cNvCxnSpPr/>
          <p:nvPr/>
        </p:nvCxnSpPr>
        <p:spPr>
          <a:xfrm>
            <a:off x="4164458" y="5085708"/>
            <a:ext cx="259936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74FCF87-50FA-9035-5E68-767D28B6C121}"/>
              </a:ext>
            </a:extLst>
          </p:cNvPr>
          <p:cNvCxnSpPr/>
          <p:nvPr/>
        </p:nvCxnSpPr>
        <p:spPr>
          <a:xfrm>
            <a:off x="7239305" y="5085708"/>
            <a:ext cx="2599362" cy="0"/>
          </a:xfrm>
          <a:prstGeom prst="line">
            <a:avLst/>
          </a:prstGeom>
          <a:ln w="28575">
            <a:solidFill>
              <a:srgbClr val="009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0937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63CA8-6922-37A7-84A1-422BE04C0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FC4A700-C485-48CA-C79E-88DDE8B6EBB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583BCA2-215E-7048-4035-9C240FACCA5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4008D56-65A0-B455-18BC-B789A23621F5}"/>
              </a:ext>
            </a:extLst>
          </p:cNvPr>
          <p:cNvSpPr/>
          <p:nvPr/>
        </p:nvSpPr>
        <p:spPr>
          <a:xfrm>
            <a:off x="12001500" y="0"/>
            <a:ext cx="190195" cy="6858000"/>
          </a:xfrm>
          <a:prstGeom prst="rect">
            <a:avLst/>
          </a:prstGeom>
          <a:solidFill>
            <a:srgbClr val="0E2A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1F9F8005-A143-DDE9-F82E-F2217B46529A}"/>
              </a:ext>
            </a:extLst>
          </p:cNvPr>
          <p:cNvSpPr txBox="1"/>
          <p:nvPr/>
        </p:nvSpPr>
        <p:spPr>
          <a:xfrm>
            <a:off x="2135847" y="3069000"/>
            <a:ext cx="7920000" cy="12915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err="1">
                <a:solidFill>
                  <a:srgbClr val="0E2A47"/>
                </a:solidFill>
                <a:latin typeface="Open Sans"/>
                <a:ea typeface="Open Sans"/>
                <a:cs typeface="Open Sans"/>
              </a:rPr>
              <a:t>Anexos</a:t>
            </a:r>
            <a:endParaRPr lang="en-US" sz="4000" b="1">
              <a:solidFill>
                <a:srgbClr val="0E2A47"/>
              </a:solidFill>
              <a:latin typeface="Open Sans"/>
              <a:ea typeface="Open Sans"/>
              <a:cs typeface="Open Sans"/>
            </a:endParaRPr>
          </a:p>
          <a:p>
            <a:pPr algn="ctr"/>
            <a:r>
              <a:rPr lang="en-US" sz="2000" b="1" err="1">
                <a:solidFill>
                  <a:srgbClr val="0E2A47"/>
                </a:solidFill>
                <a:ea typeface="Open Sans"/>
                <a:cs typeface="Open Sans"/>
              </a:rPr>
              <a:t>Projeto</a:t>
            </a:r>
            <a:r>
              <a:rPr lang="en-US" sz="2000" b="1">
                <a:solidFill>
                  <a:srgbClr val="0E2A47"/>
                </a:solidFill>
                <a:ea typeface="Open Sans"/>
                <a:cs typeface="Open Sans"/>
              </a:rPr>
              <a:t> Final </a:t>
            </a:r>
            <a:r>
              <a:rPr lang="en-US" sz="2000" b="1" err="1">
                <a:solidFill>
                  <a:srgbClr val="0E2A47"/>
                </a:solidFill>
                <a:ea typeface="Open Sans"/>
                <a:cs typeface="Open Sans"/>
              </a:rPr>
              <a:t>Aplicado</a:t>
            </a:r>
            <a:r>
              <a:rPr lang="en-US" sz="2000" b="1">
                <a:solidFill>
                  <a:srgbClr val="0E2A47"/>
                </a:solidFill>
                <a:ea typeface="Open Sans"/>
                <a:cs typeface="Open Sans"/>
              </a:rPr>
              <a:t> </a:t>
            </a:r>
            <a:r>
              <a:rPr lang="en-US" sz="2000" b="1" err="1">
                <a:solidFill>
                  <a:srgbClr val="0E2A47"/>
                </a:solidFill>
                <a:ea typeface="Open Sans"/>
                <a:cs typeface="Open Sans"/>
              </a:rPr>
              <a:t>em</a:t>
            </a:r>
            <a:r>
              <a:rPr lang="en-US" sz="2000" b="1">
                <a:solidFill>
                  <a:srgbClr val="0E2A47"/>
                </a:solidFill>
                <a:ea typeface="Open Sans"/>
                <a:cs typeface="Open Sans"/>
              </a:rPr>
              <a:t> </a:t>
            </a:r>
            <a:r>
              <a:rPr lang="en-US" sz="2000" b="1" err="1">
                <a:solidFill>
                  <a:srgbClr val="0E2A47"/>
                </a:solidFill>
                <a:ea typeface="Open Sans"/>
                <a:cs typeface="Open Sans"/>
              </a:rPr>
              <a:t>Ciência</a:t>
            </a:r>
            <a:r>
              <a:rPr lang="en-US" sz="2000" b="1">
                <a:solidFill>
                  <a:srgbClr val="0E2A47"/>
                </a:solidFill>
                <a:ea typeface="Open Sans"/>
                <a:cs typeface="Open Sans"/>
              </a:rPr>
              <a:t> de Dados</a:t>
            </a:r>
          </a:p>
        </p:txBody>
      </p:sp>
      <p:pic>
        <p:nvPicPr>
          <p:cNvPr id="40" name="Image 1" descr="gen-dedup-44d113b94a040fa597d5956dbb209098.png">
            <a:extLst>
              <a:ext uri="{FF2B5EF4-FFF2-40B4-BE49-F238E27FC236}">
                <a16:creationId xmlns:a16="http://schemas.microsoft.com/office/drawing/2014/main" id="{4F9A3080-249A-BDF7-E4CB-167ACC28DB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9" r="1239"/>
          <a:stretch/>
        </p:blipFill>
        <p:spPr>
          <a:xfrm>
            <a:off x="278450" y="139637"/>
            <a:ext cx="1478585" cy="444184"/>
          </a:xfrm>
          <a:prstGeom prst="rect">
            <a:avLst/>
          </a:prstGeom>
        </p:spPr>
      </p:pic>
      <p:sp>
        <p:nvSpPr>
          <p:cNvPr id="39" name="Text 24">
            <a:extLst>
              <a:ext uri="{FF2B5EF4-FFF2-40B4-BE49-F238E27FC236}">
                <a16:creationId xmlns:a16="http://schemas.microsoft.com/office/drawing/2014/main" id="{F9DAFA21-EF4E-E62D-D96D-D9B469474BCA}"/>
              </a:ext>
            </a:extLst>
          </p:cNvPr>
          <p:cNvSpPr txBox="1"/>
          <p:nvPr/>
        </p:nvSpPr>
        <p:spPr>
          <a:xfrm>
            <a:off x="11525098" y="6381598"/>
            <a:ext cx="286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350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0148D-67A8-E923-D39C-138A2B543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5162AE1-3144-8EAC-4B1F-3BC67C01DE9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67A9497-A45C-105B-F756-C951A0501D9C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EB37347-B1F9-A264-C475-C36DE26FC7D4}"/>
              </a:ext>
            </a:extLst>
          </p:cNvPr>
          <p:cNvSpPr/>
          <p:nvPr/>
        </p:nvSpPr>
        <p:spPr>
          <a:xfrm>
            <a:off x="12001500" y="0"/>
            <a:ext cx="190195" cy="6858000"/>
          </a:xfrm>
          <a:prstGeom prst="rect">
            <a:avLst/>
          </a:prstGeom>
          <a:solidFill>
            <a:srgbClr val="0E2A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0" name="Image 1" descr="gen-dedup-44d113b94a040fa597d5956dbb209098.png">
            <a:extLst>
              <a:ext uri="{FF2B5EF4-FFF2-40B4-BE49-F238E27FC236}">
                <a16:creationId xmlns:a16="http://schemas.microsoft.com/office/drawing/2014/main" id="{B66E1FB6-96E5-E4D6-58CF-4503A2C71A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9" r="1239"/>
          <a:stretch/>
        </p:blipFill>
        <p:spPr>
          <a:xfrm>
            <a:off x="-2287" y="-10758"/>
            <a:ext cx="1478585" cy="444184"/>
          </a:xfrm>
          <a:prstGeom prst="rect">
            <a:avLst/>
          </a:prstGeom>
        </p:spPr>
      </p:pic>
      <p:sp>
        <p:nvSpPr>
          <p:cNvPr id="39" name="Text 24">
            <a:extLst>
              <a:ext uri="{FF2B5EF4-FFF2-40B4-BE49-F238E27FC236}">
                <a16:creationId xmlns:a16="http://schemas.microsoft.com/office/drawing/2014/main" id="{6A98738F-3136-D4CE-30F3-57F50E9F4E82}"/>
              </a:ext>
            </a:extLst>
          </p:cNvPr>
          <p:cNvSpPr txBox="1"/>
          <p:nvPr/>
        </p:nvSpPr>
        <p:spPr>
          <a:xfrm>
            <a:off x="11525098" y="6381598"/>
            <a:ext cx="286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21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Image 1" descr="gen-dedup-ad5b8692e6d17fba424cfa32ac4f2b85.png">
            <a:extLst>
              <a:ext uri="{FF2B5EF4-FFF2-40B4-BE49-F238E27FC236}">
                <a16:creationId xmlns:a16="http://schemas.microsoft.com/office/drawing/2014/main" id="{87EADC4F-A008-DD62-3510-EAC50116FD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394" r="-394"/>
          <a:stretch/>
        </p:blipFill>
        <p:spPr>
          <a:xfrm>
            <a:off x="6086246" y="2176288"/>
            <a:ext cx="19202" cy="2667305"/>
          </a:xfrm>
          <a:prstGeom prst="rect">
            <a:avLst/>
          </a:prstGeom>
        </p:spPr>
      </p:pic>
      <p:sp>
        <p:nvSpPr>
          <p:cNvPr id="6" name="Text 14">
            <a:extLst>
              <a:ext uri="{FF2B5EF4-FFF2-40B4-BE49-F238E27FC236}">
                <a16:creationId xmlns:a16="http://schemas.microsoft.com/office/drawing/2014/main" id="{6B616ECD-1481-69A3-B3F8-E4D5C1CAB866}"/>
              </a:ext>
            </a:extLst>
          </p:cNvPr>
          <p:cNvSpPr txBox="1"/>
          <p:nvPr/>
        </p:nvSpPr>
        <p:spPr>
          <a:xfrm>
            <a:off x="837286" y="1424347"/>
            <a:ext cx="4858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Computacionais</a:t>
            </a:r>
            <a:r>
              <a:rPr lang="en-US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lang="en-US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Causalidade</a:t>
            </a:r>
            <a:r>
              <a:rPr lang="en-US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Granger)</a:t>
            </a:r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 41">
            <a:extLst>
              <a:ext uri="{FF2B5EF4-FFF2-40B4-BE49-F238E27FC236}">
                <a16:creationId xmlns:a16="http://schemas.microsoft.com/office/drawing/2014/main" id="{533298C1-E8AC-12B3-1A43-ACDFFF25E189}"/>
              </a:ext>
            </a:extLst>
          </p:cNvPr>
          <p:cNvSpPr/>
          <p:nvPr/>
        </p:nvSpPr>
        <p:spPr>
          <a:xfrm>
            <a:off x="1638573" y="3347635"/>
            <a:ext cx="835215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63500" rIns="139700" bIns="63500" rtlCol="0" anchor="ctr"/>
          <a:lstStyle/>
          <a:p>
            <a:pPr marL="0" indent="0" algn="ctr">
              <a:buNone/>
            </a:pP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 19">
            <a:extLst>
              <a:ext uri="{FF2B5EF4-FFF2-40B4-BE49-F238E27FC236}">
                <a16:creationId xmlns:a16="http://schemas.microsoft.com/office/drawing/2014/main" id="{62577FB8-5C9B-F018-CB5D-795FD7DD34DD}"/>
              </a:ext>
            </a:extLst>
          </p:cNvPr>
          <p:cNvSpPr txBox="1"/>
          <p:nvPr/>
        </p:nvSpPr>
        <p:spPr>
          <a:xfrm>
            <a:off x="847020" y="1865855"/>
            <a:ext cx="5114565" cy="373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Proxies </a:t>
            </a: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 </a:t>
            </a:r>
            <a:r>
              <a:rPr lang="en-US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inflação</a:t>
            </a:r>
            <a:endParaRPr lang="en-US">
              <a:solidFill>
                <a:srgbClr val="333333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Emprego</a:t>
            </a: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</a:t>
            </a: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área</a:t>
            </a: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entretenimento</a:t>
            </a: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 outros </a:t>
            </a:r>
            <a:r>
              <a:rPr lang="en-US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serviços</a:t>
            </a: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Deflator do PIB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Treasury </a:t>
            </a:r>
            <a:r>
              <a:rPr lang="en-US" i="1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yealds</a:t>
            </a:r>
            <a:r>
              <a:rPr lang="en-US" i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 e 5 </a:t>
            </a:r>
            <a:r>
              <a:rPr lang="en-US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anos</a:t>
            </a:r>
            <a:endParaRPr lang="en-US">
              <a:solidFill>
                <a:srgbClr val="333333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Preço</a:t>
            </a: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do </a:t>
            </a:r>
            <a:r>
              <a:rPr lang="en-US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petróleo</a:t>
            </a: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(em euros)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Índice</a:t>
            </a: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Preços</a:t>
            </a: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do </a:t>
            </a:r>
            <a:r>
              <a:rPr lang="en-US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Consumidor</a:t>
            </a: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para </a:t>
            </a:r>
            <a:r>
              <a:rPr lang="en-US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Consumidores</a:t>
            </a: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Urbanos (US)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Índice</a:t>
            </a: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Preços</a:t>
            </a: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Consumo</a:t>
            </a: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Pessoal</a:t>
            </a: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(US)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Taxa de </a:t>
            </a:r>
            <a:r>
              <a:rPr lang="en-US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Câmbio</a:t>
            </a: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Real </a:t>
            </a:r>
            <a:r>
              <a:rPr lang="en-US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Efetiva</a:t>
            </a:r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Custos </a:t>
            </a:r>
            <a:r>
              <a:rPr lang="en-US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</a:t>
            </a: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Construção</a:t>
            </a:r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 19">
            <a:extLst>
              <a:ext uri="{FF2B5EF4-FFF2-40B4-BE49-F238E27FC236}">
                <a16:creationId xmlns:a16="http://schemas.microsoft.com/office/drawing/2014/main" id="{D149D61D-74D8-6E83-3D4A-F885BF2F7550}"/>
              </a:ext>
            </a:extLst>
          </p:cNvPr>
          <p:cNvSpPr txBox="1"/>
          <p:nvPr/>
        </p:nvSpPr>
        <p:spPr>
          <a:xfrm>
            <a:off x="6598852" y="1864145"/>
            <a:ext cx="5114565" cy="373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err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Índice</a:t>
            </a:r>
            <a:r>
              <a:rPr lang="en-US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b="1" err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Incerteza</a:t>
            </a:r>
            <a:r>
              <a:rPr lang="en-US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Política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Exportações</a:t>
            </a: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Bens e Serviços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err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Indicador</a:t>
            </a:r>
            <a:r>
              <a:rPr lang="en-US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b="1" err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Confiação</a:t>
            </a:r>
            <a:r>
              <a:rPr lang="en-US" b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do </a:t>
            </a:r>
            <a:r>
              <a:rPr lang="en-US" b="1" err="1">
                <a:solidFill>
                  <a:srgbClr val="0097A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Consumidor</a:t>
            </a:r>
            <a:endParaRPr lang="en-US" b="1">
              <a:solidFill>
                <a:srgbClr val="0097A7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Taxa de </a:t>
            </a:r>
            <a:r>
              <a:rPr lang="en-US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Desemprego</a:t>
            </a: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</a:t>
            </a: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Unitário</a:t>
            </a: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do </a:t>
            </a:r>
            <a:r>
              <a:rPr lang="en-US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Trabalho</a:t>
            </a: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</a:t>
            </a: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Indústria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Importações</a:t>
            </a: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Bens e Serviços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Produto</a:t>
            </a: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Interno</a:t>
            </a: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Bruto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Taxa de </a:t>
            </a:r>
            <a:r>
              <a:rPr lang="en-US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Variação</a:t>
            </a: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Homóloga</a:t>
            </a: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do </a:t>
            </a:r>
            <a:r>
              <a:rPr lang="en-US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Índice</a:t>
            </a: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Preços</a:t>
            </a:r>
            <a:r>
              <a:rPr lang="en-US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err="1">
                <a:solidFill>
                  <a:srgbClr val="3333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Produção</a:t>
            </a:r>
            <a:endParaRPr lang="en-US">
              <a:solidFill>
                <a:srgbClr val="333333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333333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 15">
            <a:extLst>
              <a:ext uri="{FF2B5EF4-FFF2-40B4-BE49-F238E27FC236}">
                <a16:creationId xmlns:a16="http://schemas.microsoft.com/office/drawing/2014/main" id="{69ADB4D7-A843-96FD-1854-D7253C2949D1}"/>
              </a:ext>
            </a:extLst>
          </p:cNvPr>
          <p:cNvSpPr txBox="1"/>
          <p:nvPr/>
        </p:nvSpPr>
        <p:spPr>
          <a:xfrm>
            <a:off x="6496507" y="1424347"/>
            <a:ext cx="4858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Teóricas (Domínio Económico)</a:t>
            </a:r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FE1C466-7FCF-B552-2ED5-FA6276E316F6}"/>
              </a:ext>
            </a:extLst>
          </p:cNvPr>
          <p:cNvSpPr txBox="1"/>
          <p:nvPr/>
        </p:nvSpPr>
        <p:spPr>
          <a:xfrm>
            <a:off x="3035847" y="280455"/>
            <a:ext cx="6120000" cy="72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Variáveis</a:t>
            </a:r>
            <a:r>
              <a:rPr lang="en-US" sz="40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4000" b="1" err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Selecionadas</a:t>
            </a:r>
            <a:endParaRPr lang="en-US" sz="4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3520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C696C874-27A2-BDC9-5A18-7B3EB45EBD84}"/>
              </a:ext>
            </a:extLst>
          </p:cNvPr>
          <p:cNvSpPr txBox="1"/>
          <p:nvPr/>
        </p:nvSpPr>
        <p:spPr>
          <a:xfrm>
            <a:off x="838200" y="171162"/>
            <a:ext cx="2840182" cy="2371148"/>
          </a:xfrm>
          <a:prstGeom prst="round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Modelos</a:t>
            </a:r>
            <a:endParaRPr lang="en-US" sz="3200" err="1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ARIMA</a:t>
            </a:r>
            <a:endParaRPr lang="en-US" sz="3200" kern="1200">
              <a:solidFill>
                <a:srgbClr val="FFFFFF"/>
              </a:solidFill>
              <a:latin typeface="+mj-lt"/>
              <a:ea typeface="Open Sans"/>
              <a:cs typeface="Open Sans"/>
            </a:endParaRPr>
          </a:p>
        </p:txBody>
      </p:sp>
      <p:pic>
        <p:nvPicPr>
          <p:cNvPr id="4" name="Imagem 3" descr="Uma imagem com diagrama, texto, file, Gráfico&#10;&#10;Os conteúdos gerados por IA poderão estar incorretos.">
            <a:extLst>
              <a:ext uri="{FF2B5EF4-FFF2-40B4-BE49-F238E27FC236}">
                <a16:creationId xmlns:a16="http://schemas.microsoft.com/office/drawing/2014/main" id="{583C65DB-DD28-3503-EC1E-7F2BC4710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101" y="330966"/>
            <a:ext cx="6841992" cy="2992608"/>
          </a:xfrm>
          <a:prstGeom prst="rect">
            <a:avLst/>
          </a:prstGeom>
        </p:spPr>
      </p:pic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8329BF2A-EC7C-D342-FB5D-77087BB89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624060"/>
              </p:ext>
            </p:extLst>
          </p:nvPr>
        </p:nvGraphicFramePr>
        <p:xfrm>
          <a:off x="204328" y="4174470"/>
          <a:ext cx="4553713" cy="1971444"/>
        </p:xfrm>
        <a:graphic>
          <a:graphicData uri="http://schemas.openxmlformats.org/drawingml/2006/table">
            <a:tbl>
              <a:tblPr/>
              <a:tblGrid>
                <a:gridCol w="147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4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3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Modelo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RMSE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MAE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Rel. RMSE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Rel. MAE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Naive (baseline)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0,52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0,39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100%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100%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76000"/>
                            </a:schemeClr>
                          </a:solidFill>
                          <a:latin typeface="Times New Roman"/>
                          <a:ea typeface="Open Sans"/>
                          <a:cs typeface="Times New Roman"/>
                        </a:rPr>
                        <a:t>ARIMA(0,1,4)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76000"/>
                            </a:schemeClr>
                          </a:solidFill>
                          <a:latin typeface="Times New Roman"/>
                          <a:ea typeface="Open Sans"/>
                          <a:cs typeface="Times New Roman"/>
                        </a:rPr>
                        <a:t>0,52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76000"/>
                            </a:schemeClr>
                          </a:solidFill>
                          <a:latin typeface="Times New Roman"/>
                          <a:ea typeface="Open Sans"/>
                          <a:cs typeface="Times New Roman"/>
                        </a:rPr>
                        <a:t>0,37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76000"/>
                            </a:schemeClr>
                          </a:solidFill>
                          <a:latin typeface="Times New Roman"/>
                          <a:ea typeface="Open Sans"/>
                          <a:cs typeface="Times New Roman"/>
                        </a:rPr>
                        <a:t>100%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76000"/>
                            </a:schemeClr>
                          </a:solidFill>
                          <a:latin typeface="Times New Roman"/>
                          <a:ea typeface="Open Sans"/>
                          <a:cs typeface="Times New Roman"/>
                        </a:rPr>
                        <a:t>94,9%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CC-VAR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0,50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0,39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96,2%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100%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err="1">
                          <a:solidFill>
                            <a:srgbClr val="555555"/>
                          </a:solidFill>
                          <a:latin typeface="Times New Roman"/>
                          <a:ea typeface="Open Sans"/>
                          <a:cs typeface="Times New Roman"/>
                        </a:rPr>
                        <a:t>LightGBM</a:t>
                      </a:r>
                      <a:endParaRPr lang="en-US" sz="1400" err="1">
                        <a:latin typeface="Times New Roman"/>
                        <a:ea typeface="Open Sans"/>
                        <a:cs typeface="Times New Roman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0,48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0,40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92,3%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102,6%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Ridge ★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0,34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0,28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65,4%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71,8%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ext 24">
            <a:extLst>
              <a:ext uri="{FF2B5EF4-FFF2-40B4-BE49-F238E27FC236}">
                <a16:creationId xmlns:a16="http://schemas.microsoft.com/office/drawing/2014/main" id="{06896750-21F8-6640-1CF8-562ADF974368}"/>
              </a:ext>
            </a:extLst>
          </p:cNvPr>
          <p:cNvSpPr txBox="1"/>
          <p:nvPr/>
        </p:nvSpPr>
        <p:spPr>
          <a:xfrm>
            <a:off x="11525098" y="6381598"/>
            <a:ext cx="286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22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Imagem 6" descr="Uma imagem com texto, captura de ecrã, diagrama, número&#10;&#10;Os conteúdos gerados por IA poderão estar incorretos.">
            <a:extLst>
              <a:ext uri="{FF2B5EF4-FFF2-40B4-BE49-F238E27FC236}">
                <a16:creationId xmlns:a16="http://schemas.microsoft.com/office/drawing/2014/main" id="{9C8DE6A5-E9C2-CC4C-DD76-F1C36C2DE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08" y="3614565"/>
            <a:ext cx="4722679" cy="306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5897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430A50-99DB-B174-E65E-76929048D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D6A84807-79FA-733B-E990-F8BFA03F9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B7887B23-F6A8-CFD8-202D-99B2F522857D}"/>
              </a:ext>
            </a:extLst>
          </p:cNvPr>
          <p:cNvSpPr txBox="1"/>
          <p:nvPr/>
        </p:nvSpPr>
        <p:spPr>
          <a:xfrm>
            <a:off x="838200" y="171162"/>
            <a:ext cx="2840182" cy="2371148"/>
          </a:xfrm>
          <a:prstGeom prst="round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Modelos</a:t>
            </a:r>
            <a:endParaRPr lang="en-US" sz="3200" err="1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ARIMA</a:t>
            </a:r>
            <a:endParaRPr lang="en-US" sz="3200" kern="1200">
              <a:solidFill>
                <a:srgbClr val="FFFFFF"/>
              </a:solidFill>
              <a:latin typeface="+mj-lt"/>
              <a:ea typeface="Open Sans"/>
              <a:cs typeface="Open Sans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6F2E7B45-02C2-9335-21EB-06DC2F484C7B}"/>
              </a:ext>
            </a:extLst>
          </p:cNvPr>
          <p:cNvGraphicFramePr>
            <a:graphicFrameLocks noGrp="1"/>
          </p:cNvGraphicFramePr>
          <p:nvPr/>
        </p:nvGraphicFramePr>
        <p:xfrm>
          <a:off x="204328" y="4174470"/>
          <a:ext cx="4553713" cy="1971444"/>
        </p:xfrm>
        <a:graphic>
          <a:graphicData uri="http://schemas.openxmlformats.org/drawingml/2006/table">
            <a:tbl>
              <a:tblPr/>
              <a:tblGrid>
                <a:gridCol w="147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4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3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Modelo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RMSE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MAE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Rel. RMSE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Rel. MAE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Naive (baseline)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0,52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0,39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100%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100%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76000"/>
                            </a:schemeClr>
                          </a:solidFill>
                          <a:latin typeface="Times New Roman"/>
                          <a:ea typeface="Open Sans"/>
                          <a:cs typeface="Times New Roman"/>
                        </a:rPr>
                        <a:t>ARIMA(0,1,4)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76000"/>
                            </a:schemeClr>
                          </a:solidFill>
                          <a:latin typeface="Times New Roman"/>
                          <a:ea typeface="Open Sans"/>
                          <a:cs typeface="Times New Roman"/>
                        </a:rPr>
                        <a:t>0,52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76000"/>
                            </a:schemeClr>
                          </a:solidFill>
                          <a:latin typeface="Times New Roman"/>
                          <a:ea typeface="Open Sans"/>
                          <a:cs typeface="Times New Roman"/>
                        </a:rPr>
                        <a:t>0,37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76000"/>
                            </a:schemeClr>
                          </a:solidFill>
                          <a:latin typeface="Times New Roman"/>
                          <a:ea typeface="Open Sans"/>
                          <a:cs typeface="Times New Roman"/>
                        </a:rPr>
                        <a:t>100%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76000"/>
                            </a:schemeClr>
                          </a:solidFill>
                          <a:latin typeface="Times New Roman"/>
                          <a:ea typeface="Open Sans"/>
                          <a:cs typeface="Times New Roman"/>
                        </a:rPr>
                        <a:t>94,9%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CC-VAR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0,50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0,39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96,2%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100%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err="1">
                          <a:solidFill>
                            <a:srgbClr val="555555"/>
                          </a:solidFill>
                          <a:latin typeface="Times New Roman"/>
                          <a:ea typeface="Open Sans"/>
                          <a:cs typeface="Times New Roman"/>
                        </a:rPr>
                        <a:t>LightGBM</a:t>
                      </a:r>
                      <a:endParaRPr lang="en-US" sz="1400" err="1">
                        <a:latin typeface="Times New Roman"/>
                        <a:ea typeface="Open Sans"/>
                        <a:cs typeface="Times New Roman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0,48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0,40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92,3%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102,6%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Ridge ★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0,34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0,28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65,4%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71,8%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" name="Imagem 1" descr="Uma imagem com diagrama, file, Gráfico, texto&#10;&#10;Os conteúdos gerados por IA poderão estar incorretos.">
            <a:extLst>
              <a:ext uri="{FF2B5EF4-FFF2-40B4-BE49-F238E27FC236}">
                <a16:creationId xmlns:a16="http://schemas.microsoft.com/office/drawing/2014/main" id="{C4A18B04-134D-26BA-4438-3BA7BFC3C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013" y="516678"/>
            <a:ext cx="7509831" cy="3281584"/>
          </a:xfrm>
          <a:prstGeom prst="rect">
            <a:avLst/>
          </a:prstGeom>
        </p:spPr>
      </p:pic>
      <p:sp>
        <p:nvSpPr>
          <p:cNvPr id="4" name="Text 24">
            <a:extLst>
              <a:ext uri="{FF2B5EF4-FFF2-40B4-BE49-F238E27FC236}">
                <a16:creationId xmlns:a16="http://schemas.microsoft.com/office/drawing/2014/main" id="{7CC736C7-9548-A1E1-5753-3827E6052E64}"/>
              </a:ext>
            </a:extLst>
          </p:cNvPr>
          <p:cNvSpPr txBox="1"/>
          <p:nvPr/>
        </p:nvSpPr>
        <p:spPr>
          <a:xfrm>
            <a:off x="11525098" y="6381598"/>
            <a:ext cx="286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23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998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34D7DB-3007-7DF5-434E-3E8435AA8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9582DBD8-02A4-DDEA-3CF7-525C8C8A7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4A81FEC5-C7E4-B818-3333-DB8E4441F066}"/>
              </a:ext>
            </a:extLst>
          </p:cNvPr>
          <p:cNvSpPr txBox="1"/>
          <p:nvPr/>
        </p:nvSpPr>
        <p:spPr>
          <a:xfrm>
            <a:off x="838200" y="171162"/>
            <a:ext cx="2840182" cy="2371148"/>
          </a:xfrm>
          <a:prstGeom prst="round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Modelos</a:t>
            </a:r>
            <a:endParaRPr lang="en-US" sz="3200" err="1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CC-VAR</a:t>
            </a:r>
            <a:endParaRPr lang="en-US" sz="3200" kern="1200">
              <a:solidFill>
                <a:srgbClr val="FFFFFF"/>
              </a:solidFill>
              <a:latin typeface="+mj-lt"/>
              <a:ea typeface="Open Sans"/>
              <a:cs typeface="Open Sans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F622B1CE-D3F9-070C-23F0-AEAD635DE400}"/>
              </a:ext>
            </a:extLst>
          </p:cNvPr>
          <p:cNvGraphicFramePr>
            <a:graphicFrameLocks noGrp="1"/>
          </p:cNvGraphicFramePr>
          <p:nvPr/>
        </p:nvGraphicFramePr>
        <p:xfrm>
          <a:off x="902063" y="4504976"/>
          <a:ext cx="4553713" cy="1971444"/>
        </p:xfrm>
        <a:graphic>
          <a:graphicData uri="http://schemas.openxmlformats.org/drawingml/2006/table">
            <a:tbl>
              <a:tblPr/>
              <a:tblGrid>
                <a:gridCol w="147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4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3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Modelo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RMSE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MAE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Rel. RMSE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Rel. MAE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Naive (baseline)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0,52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0,39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100%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100%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677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400" kern="12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ARIMA(0,1,4)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buNone/>
                      </a:pPr>
                      <a:r>
                        <a:rPr lang="en-US" sz="1400" kern="12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0,52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buNone/>
                      </a:pPr>
                      <a:r>
                        <a:rPr lang="en-US" sz="1400" kern="12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0,37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buNone/>
                      </a:pPr>
                      <a:r>
                        <a:rPr lang="en-US" sz="1400" kern="12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buNone/>
                      </a:pPr>
                      <a:r>
                        <a:rPr lang="en-US" sz="1400" kern="12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94,9%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76000"/>
                            </a:schemeClr>
                          </a:solidFill>
                          <a:latin typeface="Times New Roman"/>
                          <a:ea typeface="Open Sans"/>
                          <a:cs typeface="Times New Roman"/>
                        </a:rPr>
                        <a:t>CC-VAR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76000"/>
                            </a:schemeClr>
                          </a:solidFill>
                          <a:latin typeface="Times New Roman"/>
                          <a:ea typeface="Open Sans"/>
                          <a:cs typeface="Times New Roman"/>
                        </a:rPr>
                        <a:t>0,50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76000"/>
                            </a:schemeClr>
                          </a:solidFill>
                          <a:latin typeface="Times New Roman"/>
                          <a:ea typeface="Open Sans"/>
                          <a:cs typeface="Times New Roman"/>
                        </a:rPr>
                        <a:t>0,39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76000"/>
                            </a:schemeClr>
                          </a:solidFill>
                          <a:latin typeface="Times New Roman"/>
                          <a:ea typeface="Open Sans"/>
                          <a:cs typeface="Times New Roman"/>
                        </a:rPr>
                        <a:t>96,2%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76000"/>
                            </a:schemeClr>
                          </a:solidFill>
                          <a:latin typeface="Times New Roman"/>
                          <a:ea typeface="Open Sans"/>
                          <a:cs typeface="Times New Roman"/>
                        </a:rPr>
                        <a:t>100%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err="1">
                          <a:solidFill>
                            <a:srgbClr val="555555"/>
                          </a:solidFill>
                          <a:latin typeface="Times New Roman"/>
                          <a:ea typeface="Open Sans"/>
                          <a:cs typeface="Times New Roman"/>
                        </a:rPr>
                        <a:t>LightGBM</a:t>
                      </a:r>
                      <a:endParaRPr lang="en-US" sz="1400" err="1">
                        <a:latin typeface="Times New Roman"/>
                        <a:ea typeface="Open Sans"/>
                        <a:cs typeface="Times New Roman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0,48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0,40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92,3%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102,6%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Ridge ★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0,34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0,28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65,4%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71,8%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" name="Imagem 1" descr="Uma imagem com file, diagrama, Gráfico, texto&#10;&#10;Os conteúdos gerados por IA poderão estar incorretos.">
            <a:extLst>
              <a:ext uri="{FF2B5EF4-FFF2-40B4-BE49-F238E27FC236}">
                <a16:creationId xmlns:a16="http://schemas.microsoft.com/office/drawing/2014/main" id="{64ED2F45-2005-7A6C-8F4C-B9E941625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026" y="709602"/>
            <a:ext cx="7990974" cy="3543821"/>
          </a:xfrm>
          <a:prstGeom prst="rect">
            <a:avLst/>
          </a:prstGeom>
        </p:spPr>
      </p:pic>
      <p:sp>
        <p:nvSpPr>
          <p:cNvPr id="4" name="Text 24">
            <a:extLst>
              <a:ext uri="{FF2B5EF4-FFF2-40B4-BE49-F238E27FC236}">
                <a16:creationId xmlns:a16="http://schemas.microsoft.com/office/drawing/2014/main" id="{7E02D434-E569-29AE-1C69-A0AD311FF23A}"/>
              </a:ext>
            </a:extLst>
          </p:cNvPr>
          <p:cNvSpPr txBox="1"/>
          <p:nvPr/>
        </p:nvSpPr>
        <p:spPr>
          <a:xfrm>
            <a:off x="11525098" y="6381598"/>
            <a:ext cx="286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24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0801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B443C5-0E41-1971-EC77-520E53F06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E1CE9EC3-3520-593E-874D-DCD1E7F32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6D8E4D2A-1B28-88A8-B4FA-547597B464C1}"/>
              </a:ext>
            </a:extLst>
          </p:cNvPr>
          <p:cNvSpPr txBox="1"/>
          <p:nvPr/>
        </p:nvSpPr>
        <p:spPr>
          <a:xfrm>
            <a:off x="838200" y="171162"/>
            <a:ext cx="2840182" cy="2371148"/>
          </a:xfrm>
          <a:prstGeom prst="round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Modelo</a:t>
            </a:r>
            <a:endParaRPr lang="en-US" sz="3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i="1" err="1">
                <a:solidFill>
                  <a:srgbClr val="FFFFFF"/>
                </a:solidFill>
                <a:latin typeface="+mj-lt"/>
                <a:ea typeface="Open Sans"/>
                <a:cs typeface="Open Sans"/>
              </a:rPr>
              <a:t>LightGBM</a:t>
            </a:r>
            <a:endParaRPr lang="en-US" sz="3200" b="1" i="1" kern="1200">
              <a:solidFill>
                <a:srgbClr val="FFFFFF"/>
              </a:solidFill>
              <a:latin typeface="+mj-lt"/>
              <a:ea typeface="Open Sans"/>
              <a:cs typeface="Open Sans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33FF4B23-E5E0-6DFC-DA57-BC498054D0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512909"/>
              </p:ext>
            </p:extLst>
          </p:nvPr>
        </p:nvGraphicFramePr>
        <p:xfrm>
          <a:off x="902063" y="4504976"/>
          <a:ext cx="4553713" cy="1971444"/>
        </p:xfrm>
        <a:graphic>
          <a:graphicData uri="http://schemas.openxmlformats.org/drawingml/2006/table">
            <a:tbl>
              <a:tblPr/>
              <a:tblGrid>
                <a:gridCol w="147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4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3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Modelo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RMSE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MAE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Rel. RMSE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Rel. MAE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Naive (baseline)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0,52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0,39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100%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100%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677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400" kern="12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ARIMA(0,1,4)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buNone/>
                      </a:pPr>
                      <a:r>
                        <a:rPr lang="en-US" sz="1400" kern="12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0,52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buNone/>
                      </a:pPr>
                      <a:r>
                        <a:rPr lang="en-US" sz="1400" kern="12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0,37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buNone/>
                      </a:pPr>
                      <a:r>
                        <a:rPr lang="en-US" sz="1400" kern="12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defTabSz="914400" rtl="0" eaLnBrk="1" latinLnBrk="0" hangingPunct="1">
                        <a:buNone/>
                      </a:pPr>
                      <a:r>
                        <a:rPr lang="en-US" sz="1400" kern="12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94,9%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kern="12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CC-VAR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kern="12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0,50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kern="12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0,39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kern="12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96,2%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kern="1200">
                          <a:solidFill>
                            <a:srgbClr val="555555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err="1">
                          <a:solidFill>
                            <a:schemeClr val="accent1"/>
                          </a:solidFill>
                          <a:latin typeface="Times New Roman"/>
                          <a:ea typeface="Open Sans"/>
                          <a:cs typeface="Times New Roman"/>
                        </a:rPr>
                        <a:t>LightGBM</a:t>
                      </a:r>
                      <a:endParaRPr lang="en-US" sz="1400" b="1">
                        <a:solidFill>
                          <a:schemeClr val="accent1"/>
                        </a:solidFill>
                        <a:latin typeface="Times New Roman"/>
                        <a:ea typeface="Open Sans"/>
                        <a:cs typeface="Times New Roman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chemeClr val="accent1"/>
                          </a:solidFill>
                          <a:latin typeface="Times New Roman"/>
                          <a:ea typeface="Open Sans"/>
                          <a:cs typeface="Times New Roman"/>
                        </a:rPr>
                        <a:t>0,48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chemeClr val="accent1"/>
                          </a:solidFill>
                          <a:latin typeface="Times New Roman"/>
                          <a:ea typeface="Open Sans"/>
                          <a:cs typeface="Times New Roman"/>
                        </a:rPr>
                        <a:t>0,40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chemeClr val="accent1"/>
                          </a:solidFill>
                          <a:latin typeface="Times New Roman"/>
                          <a:ea typeface="Open Sans"/>
                          <a:cs typeface="Times New Roman"/>
                        </a:rPr>
                        <a:t>92,3%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chemeClr val="accent1"/>
                          </a:solidFill>
                          <a:latin typeface="Times New Roman"/>
                          <a:ea typeface="Open Sans"/>
                          <a:cs typeface="Times New Roman"/>
                        </a:rPr>
                        <a:t>102,6%</a:t>
                      </a: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Ridge ★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0,34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0,28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65,4%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rgbClr val="0E2A47"/>
                          </a:solidFill>
                          <a:latin typeface="Times New Roman" panose="02020603050405020304" pitchFamily="18" charset="0"/>
                          <a:ea typeface="Open Sans" pitchFamily="34" charset="-122"/>
                          <a:cs typeface="Times New Roman" panose="02020603050405020304" pitchFamily="18" charset="0"/>
                        </a:rPr>
                        <a:t>71,8%</a:t>
                      </a:r>
                      <a:endParaRPr lang="en-US" sz="1400">
                        <a:latin typeface="Times New Roman" panose="02020603050405020304" pitchFamily="18" charset="0"/>
                        <a:ea typeface="Open Sans" charset="0"/>
                        <a:cs typeface="Times New Roman" panose="02020603050405020304" pitchFamily="18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Imagem 3" descr="Uma imagem com texto, Gráfico, file, diagrama&#10;&#10;Os conteúdos gerados por IA poderão estar incorretos.">
            <a:extLst>
              <a:ext uri="{FF2B5EF4-FFF2-40B4-BE49-F238E27FC236}">
                <a16:creationId xmlns:a16="http://schemas.microsoft.com/office/drawing/2014/main" id="{079A2E54-D15E-9C6A-6226-420B30C3C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269" y="444346"/>
            <a:ext cx="7563195" cy="3710849"/>
          </a:xfrm>
          <a:prstGeom prst="rect">
            <a:avLst/>
          </a:prstGeom>
        </p:spPr>
      </p:pic>
      <p:sp>
        <p:nvSpPr>
          <p:cNvPr id="2" name="Text 24">
            <a:extLst>
              <a:ext uri="{FF2B5EF4-FFF2-40B4-BE49-F238E27FC236}">
                <a16:creationId xmlns:a16="http://schemas.microsoft.com/office/drawing/2014/main" id="{B1C8B3D1-3F9A-2535-0E87-369102682D45}"/>
              </a:ext>
            </a:extLst>
          </p:cNvPr>
          <p:cNvSpPr txBox="1"/>
          <p:nvPr/>
        </p:nvSpPr>
        <p:spPr>
          <a:xfrm>
            <a:off x="11525098" y="6381598"/>
            <a:ext cx="286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E2A47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25</a:t>
            </a:r>
            <a:endParaRPr lang="en-US" sz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804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2423</Words>
  <Application>Microsoft Office PowerPoint</Application>
  <PresentationFormat>Widescreen</PresentationFormat>
  <Paragraphs>523</Paragraphs>
  <Slides>26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Arial</vt:lpstr>
      <vt:lpstr>Open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José Vilingue Alberto</cp:lastModifiedBy>
  <cp:revision>2</cp:revision>
  <dcterms:created xsi:type="dcterms:W3CDTF">2026-05-25T11:42:44Z</dcterms:created>
  <dcterms:modified xsi:type="dcterms:W3CDTF">2026-06-14T22:33:21Z</dcterms:modified>
</cp:coreProperties>
</file>